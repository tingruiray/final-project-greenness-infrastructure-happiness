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84"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351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final project asks whether greener places are associated with higher happiness and different willingness to pay for environmental improvement in China. I combine CGSS 2018 survey data with satellite-derived NDVI from NASA HLS-VI. The project is both substantive and computational: substantively, it links environmental conditions to subjective well-being and policy preferences; computationally, it builds a scalable pipeline that processes many cloud-hosted raster files and connects them to survey microdata.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social science question is whether environmental greenness is related to subjective well-being and to preferences over air-quality improvements. I use two CGSS outcomes: happiness and willingness to pay for three additional days of good air quality. The main exposure is annual mean NDVI, a satellite measure of vegetation greenness. The expected sign is not the same for both outcomes: greener environments may raise happiness, but they may lower willingness to pay if people already perceive their environment as relatively good.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computing challenge comes from the environmental data. NDVI is stored as many cloud-hosted GeoTIFF files, not as a ready-made spreadsheet. For every province, the pipeline has to download relevant files, group them by date, mosaic overlapping tiles, clip to administrative boundaries, remove invalid values, and compute daily and annual means. This is expensive in storage and memory. But the key scalability insight is simple: one province can be treated as one independent task, so the pipeline can scale horizontally by adding workers.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pipeline. S3 is the durable storage layer for code, boundaries, manifests, survey data, and outputs. SQS is the task scheduler: every message describes one province-year job. EC2 workers are stateless processors. They poll the queue, download the required files, process the rasters, and upload results. Finally, EMR Spark reads the survey and NDVI outputs, merges them, and runs the regression models. This modular design is what makes the workflow scalable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scaling, I validated the workflow on Shanghai. I filtered Earthdata links to NDVI-only files, confirmed the spatial clipping logic, and computed daily and annual NDVI. I then moved the same workflow to EC2 and verified that the worker could download NASA files, run the raster script, and upload outputs to my S3 bucket. After that validation, the same logic scaled to province tasks through SQS. The final merged data contain 28 provinces with NDVI outputs and 11,061 CGSS observations.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NDVI coefficient plots. For happiness, the coefficient is negative in the unadjusted model but turns positive once demographic, income, and full controls are added. For willingness to pay, the NDVI coefficient is negative in most specifications and very close to zero in the full model. The important caveat is that the confidence intervals cross zero. So I interpret this as noisy descriptive evidence, not causal proof. Still, the signs are consistent with the theoretical expectations.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plots show the province-level data that drive the NDVI associations. The happiness relationship slopes upward, while the log willingness-to-pay relationship slopes slightly downward. At the same time, the points reveal why the estimates are noisy: the design relies on cross-province variation, and a few provinces have relatively high NDVI values. This is useful diagnostically and points to the next improvement: moving from province-level NDVI to more local measures, such as city, county, or neighborhood greenness.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coefficient plots show that individual controls are much stronger predictors than province-level greenness. For happiness, health and marriage are especially important; for willingness to pay, hukou and income matter more than NDVI. My main conclusion is therefore twofold. Substantively, province-level greenness gives noisy but plausible descriptive patterns: higher NDVI is associated with higher happiness and lower willingness to pay. Computationally, the project succeeds in building a scalable, reproducible pipeline for linking satellite rasters to social survey outcomes. Future work should use finer geography and additional environmental controls.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5D3B"/>
          </a:solidFill>
          <a:ln w="12700">
            <a:solidFill>
              <a:srgbClr val="0B5D3B"/>
            </a:solidFill>
            <a:prstDash val="solid"/>
          </a:ln>
        </p:spPr>
      </p:sp>
      <p:sp>
        <p:nvSpPr>
          <p:cNvPr id="3" name="Shape 1"/>
          <p:cNvSpPr/>
          <p:nvPr/>
        </p:nvSpPr>
        <p:spPr>
          <a:xfrm>
            <a:off x="0" y="6693408"/>
            <a:ext cx="12191695" cy="164592"/>
          </a:xfrm>
          <a:prstGeom prst="rect">
            <a:avLst/>
          </a:prstGeom>
          <a:solidFill>
            <a:srgbClr val="0B5D3B"/>
          </a:solidFill>
          <a:ln w="12700">
            <a:solidFill>
              <a:srgbClr val="0B5D3B"/>
            </a:solidFill>
            <a:prstDash val="solid"/>
          </a:ln>
        </p:spPr>
      </p:sp>
      <p:sp>
        <p:nvSpPr>
          <p:cNvPr id="4" name="Text 2"/>
          <p:cNvSpPr/>
          <p:nvPr/>
        </p:nvSpPr>
        <p:spPr>
          <a:xfrm>
            <a:off x="960119" y="485537"/>
            <a:ext cx="10103215" cy="2449686"/>
          </a:xfrm>
          <a:prstGeom prst="rect">
            <a:avLst/>
          </a:prstGeom>
          <a:noFill/>
          <a:ln/>
        </p:spPr>
        <p:txBody>
          <a:bodyPr wrap="square" lIns="0" tIns="0" rIns="0" bIns="0" rtlCol="0" anchor="ctr">
            <a:normAutofit/>
          </a:bodyPr>
          <a:lstStyle/>
          <a:p>
            <a:pPr marL="0" indent="0">
              <a:buNone/>
            </a:pPr>
            <a:r>
              <a:rPr lang="en-US" sz="4200" b="1" dirty="0">
                <a:solidFill>
                  <a:srgbClr val="0F2F25"/>
                </a:solidFill>
                <a:latin typeface="Aptos Display" pitchFamily="34" charset="0"/>
                <a:ea typeface="Aptos Display" pitchFamily="34" charset="-122"/>
                <a:cs typeface="Aptos Display" pitchFamily="34" charset="-120"/>
              </a:rPr>
              <a:t>Greenness, Happiness, and Willingness to Pay for the Environment: </a:t>
            </a:r>
          </a:p>
          <a:p>
            <a:pPr marL="0" indent="0">
              <a:buNone/>
            </a:pPr>
            <a:r>
              <a:rPr lang="en-US" sz="4200" b="1" dirty="0">
                <a:solidFill>
                  <a:srgbClr val="0F2F25"/>
                </a:solidFill>
                <a:latin typeface="Aptos Display" pitchFamily="34" charset="0"/>
                <a:ea typeface="Aptos Display" pitchFamily="34" charset="-122"/>
                <a:cs typeface="Aptos Display" pitchFamily="34" charset="-120"/>
              </a:rPr>
              <a:t>Evidence from China</a:t>
            </a:r>
            <a:endParaRPr lang="en-US" sz="4200" dirty="0"/>
          </a:p>
        </p:txBody>
      </p:sp>
      <p:sp>
        <p:nvSpPr>
          <p:cNvPr id="7" name="Shape 5"/>
          <p:cNvSpPr/>
          <p:nvPr/>
        </p:nvSpPr>
        <p:spPr>
          <a:xfrm>
            <a:off x="6382512" y="4211219"/>
            <a:ext cx="960120" cy="960120"/>
          </a:xfrm>
          <a:prstGeom prst="ellipse">
            <a:avLst/>
          </a:prstGeom>
          <a:solidFill>
            <a:srgbClr val="E6F0FA"/>
          </a:solidFill>
          <a:ln w="15240">
            <a:solidFill>
              <a:srgbClr val="1F77B4"/>
            </a:solidFill>
            <a:prstDash val="solid"/>
          </a:ln>
        </p:spPr>
      </p:sp>
      <p:sp>
        <p:nvSpPr>
          <p:cNvPr id="8" name="Text 6"/>
          <p:cNvSpPr/>
          <p:nvPr/>
        </p:nvSpPr>
        <p:spPr>
          <a:xfrm>
            <a:off x="6519672" y="4558691"/>
            <a:ext cx="685800" cy="146304"/>
          </a:xfrm>
          <a:prstGeom prst="rect">
            <a:avLst/>
          </a:prstGeom>
          <a:noFill/>
          <a:ln/>
        </p:spPr>
        <p:txBody>
          <a:bodyPr wrap="square" lIns="0" tIns="0" rIns="0" bIns="0" rtlCol="0" anchor="ctr"/>
          <a:lstStyle/>
          <a:p>
            <a:pPr marL="0" indent="0" algn="ctr">
              <a:buNone/>
            </a:pPr>
            <a:r>
              <a:rPr lang="en-US" sz="1300" b="1" dirty="0">
                <a:solidFill>
                  <a:srgbClr val="1F77B4"/>
                </a:solidFill>
              </a:rPr>
              <a:t>NDVI</a:t>
            </a:r>
            <a:endParaRPr lang="en-US" sz="1300" dirty="0"/>
          </a:p>
        </p:txBody>
      </p:sp>
      <p:sp>
        <p:nvSpPr>
          <p:cNvPr id="9" name="Shape 7"/>
          <p:cNvSpPr/>
          <p:nvPr/>
        </p:nvSpPr>
        <p:spPr>
          <a:xfrm>
            <a:off x="7424928" y="4686707"/>
            <a:ext cx="384048" cy="0"/>
          </a:xfrm>
          <a:prstGeom prst="line">
            <a:avLst/>
          </a:prstGeom>
          <a:noFill/>
          <a:ln w="25400">
            <a:solidFill>
              <a:srgbClr val="B5C4BB"/>
            </a:solidFill>
            <a:prstDash val="solid"/>
            <a:headEnd type="none"/>
            <a:tailEnd type="triangle"/>
          </a:ln>
        </p:spPr>
      </p:sp>
      <p:sp>
        <p:nvSpPr>
          <p:cNvPr id="10" name="Shape 8"/>
          <p:cNvSpPr/>
          <p:nvPr/>
        </p:nvSpPr>
        <p:spPr>
          <a:xfrm>
            <a:off x="8010144" y="4211219"/>
            <a:ext cx="960120" cy="960120"/>
          </a:xfrm>
          <a:prstGeom prst="ellipse">
            <a:avLst/>
          </a:prstGeom>
          <a:solidFill>
            <a:srgbClr val="DCEEE5"/>
          </a:solidFill>
          <a:ln w="15240">
            <a:solidFill>
              <a:srgbClr val="1B9E77"/>
            </a:solidFill>
            <a:prstDash val="solid"/>
          </a:ln>
        </p:spPr>
      </p:sp>
      <p:sp>
        <p:nvSpPr>
          <p:cNvPr id="11" name="Text 9"/>
          <p:cNvSpPr/>
          <p:nvPr/>
        </p:nvSpPr>
        <p:spPr>
          <a:xfrm>
            <a:off x="8147304" y="4558691"/>
            <a:ext cx="685800" cy="146304"/>
          </a:xfrm>
          <a:prstGeom prst="rect">
            <a:avLst/>
          </a:prstGeom>
          <a:noFill/>
          <a:ln/>
        </p:spPr>
        <p:txBody>
          <a:bodyPr wrap="square" lIns="0" tIns="0" rIns="0" bIns="0" rtlCol="0" anchor="ctr"/>
          <a:lstStyle/>
          <a:p>
            <a:pPr marL="0" indent="0" algn="ctr">
              <a:buNone/>
            </a:pPr>
            <a:r>
              <a:rPr lang="en-US" sz="1300" b="1" dirty="0">
                <a:solidFill>
                  <a:srgbClr val="0B5D3B"/>
                </a:solidFill>
              </a:rPr>
              <a:t>CGSS</a:t>
            </a:r>
            <a:endParaRPr lang="en-US" sz="1300" dirty="0"/>
          </a:p>
        </p:txBody>
      </p:sp>
      <p:sp>
        <p:nvSpPr>
          <p:cNvPr id="12" name="Shape 10"/>
          <p:cNvSpPr/>
          <p:nvPr/>
        </p:nvSpPr>
        <p:spPr>
          <a:xfrm>
            <a:off x="9052560" y="4686707"/>
            <a:ext cx="384048" cy="0"/>
          </a:xfrm>
          <a:prstGeom prst="line">
            <a:avLst/>
          </a:prstGeom>
          <a:noFill/>
          <a:ln w="25400">
            <a:solidFill>
              <a:srgbClr val="B5C4BB"/>
            </a:solidFill>
            <a:prstDash val="solid"/>
            <a:headEnd type="none"/>
            <a:tailEnd type="triangle"/>
          </a:ln>
        </p:spPr>
      </p:sp>
      <p:sp>
        <p:nvSpPr>
          <p:cNvPr id="13" name="Shape 11"/>
          <p:cNvSpPr/>
          <p:nvPr/>
        </p:nvSpPr>
        <p:spPr>
          <a:xfrm>
            <a:off x="9656064" y="4211219"/>
            <a:ext cx="960120" cy="960120"/>
          </a:xfrm>
          <a:prstGeom prst="ellipse">
            <a:avLst/>
          </a:prstGeom>
          <a:solidFill>
            <a:srgbClr val="FFF4DF"/>
          </a:solidFill>
          <a:ln w="15240">
            <a:solidFill>
              <a:srgbClr val="D97706"/>
            </a:solidFill>
            <a:prstDash val="solid"/>
          </a:ln>
        </p:spPr>
      </p:sp>
      <p:sp>
        <p:nvSpPr>
          <p:cNvPr id="14" name="Text 12"/>
          <p:cNvSpPr/>
          <p:nvPr/>
        </p:nvSpPr>
        <p:spPr>
          <a:xfrm>
            <a:off x="9793224" y="4558691"/>
            <a:ext cx="685800" cy="146304"/>
          </a:xfrm>
          <a:prstGeom prst="rect">
            <a:avLst/>
          </a:prstGeom>
          <a:noFill/>
          <a:ln/>
        </p:spPr>
        <p:txBody>
          <a:bodyPr wrap="square" lIns="0" tIns="0" rIns="0" bIns="0" rtlCol="0" anchor="ctr"/>
          <a:lstStyle/>
          <a:p>
            <a:pPr marL="0" indent="0" algn="ctr">
              <a:buNone/>
            </a:pPr>
            <a:r>
              <a:rPr lang="en-US" sz="1300" b="1" dirty="0">
                <a:solidFill>
                  <a:srgbClr val="D97706"/>
                </a:solidFill>
              </a:rPr>
              <a:t>OLS</a:t>
            </a:r>
            <a:endParaRPr lang="en-US" sz="1300" dirty="0"/>
          </a:p>
        </p:txBody>
      </p:sp>
      <p:sp>
        <p:nvSpPr>
          <p:cNvPr id="15" name="Text 13"/>
          <p:cNvSpPr/>
          <p:nvPr/>
        </p:nvSpPr>
        <p:spPr>
          <a:xfrm>
            <a:off x="1068761" y="3732019"/>
            <a:ext cx="3657600" cy="960120"/>
          </a:xfrm>
          <a:prstGeom prst="rect">
            <a:avLst/>
          </a:prstGeom>
          <a:noFill/>
          <a:ln/>
        </p:spPr>
        <p:txBody>
          <a:bodyPr wrap="square" lIns="0" tIns="0" rIns="0" bIns="0" rtlCol="0" anchor="ctr"/>
          <a:lstStyle/>
          <a:p>
            <a:pPr marL="0" indent="0">
              <a:buNone/>
            </a:pPr>
            <a:r>
              <a:rPr lang="en-US" sz="2000" b="1" dirty="0">
                <a:solidFill>
                  <a:srgbClr val="0B5D3B"/>
                </a:solidFill>
              </a:rPr>
              <a:t>MACS 30123</a:t>
            </a:r>
          </a:p>
          <a:p>
            <a:pPr marL="0" indent="0">
              <a:buNone/>
            </a:pPr>
            <a:r>
              <a:rPr lang="en-US" sz="2000" b="1" dirty="0">
                <a:solidFill>
                  <a:srgbClr val="0B5D3B"/>
                </a:solidFill>
              </a:rPr>
              <a:t>Tingrui Zhang</a:t>
            </a:r>
          </a:p>
          <a:p>
            <a:pPr marL="0" indent="0">
              <a:buNone/>
            </a:pPr>
            <a:r>
              <a:rPr lang="en-US" sz="2000" b="1" dirty="0">
                <a:solidFill>
                  <a:srgbClr val="0B5D3B"/>
                </a:solidFill>
              </a:rPr>
              <a:t>May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SOCIAL SCIENCE QUESTION</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Research problem</a:t>
            </a:r>
            <a:endParaRPr lang="en-US" sz="3000" dirty="0"/>
          </a:p>
        </p:txBody>
      </p:sp>
      <p:sp>
        <p:nvSpPr>
          <p:cNvPr id="5" name="Text 3"/>
          <p:cNvSpPr/>
          <p:nvPr/>
        </p:nvSpPr>
        <p:spPr>
          <a:xfrm>
            <a:off x="6537960" y="2839212"/>
            <a:ext cx="3017520" cy="228600"/>
          </a:xfrm>
          <a:prstGeom prst="rect">
            <a:avLst/>
          </a:prstGeom>
          <a:noFill/>
          <a:ln/>
        </p:spPr>
        <p:txBody>
          <a:bodyPr wrap="square" lIns="0" tIns="0" rIns="0" bIns="0" rtlCol="0" anchor="ctr"/>
          <a:lstStyle/>
          <a:p>
            <a:pPr marL="0" indent="0">
              <a:buNone/>
            </a:pPr>
            <a:r>
              <a:rPr lang="en-US" sz="1700" b="1" dirty="0">
                <a:solidFill>
                  <a:srgbClr val="0B5D3B"/>
                </a:solidFill>
              </a:rPr>
              <a:t>Outcome variables</a:t>
            </a:r>
            <a:endParaRPr lang="en-US" sz="1700" dirty="0"/>
          </a:p>
        </p:txBody>
      </p:sp>
      <p:sp>
        <p:nvSpPr>
          <p:cNvPr id="6" name="Shape 4"/>
          <p:cNvSpPr/>
          <p:nvPr/>
        </p:nvSpPr>
        <p:spPr>
          <a:xfrm>
            <a:off x="6556248" y="3332988"/>
            <a:ext cx="91440" cy="91440"/>
          </a:xfrm>
          <a:prstGeom prst="ellipse">
            <a:avLst/>
          </a:prstGeom>
          <a:solidFill>
            <a:srgbClr val="0B5D3B"/>
          </a:solidFill>
          <a:ln w="12700">
            <a:solidFill>
              <a:srgbClr val="0B5D3B"/>
            </a:solidFill>
            <a:prstDash val="solid"/>
          </a:ln>
        </p:spPr>
      </p:sp>
      <p:sp>
        <p:nvSpPr>
          <p:cNvPr id="7" name="Text 5"/>
          <p:cNvSpPr/>
          <p:nvPr/>
        </p:nvSpPr>
        <p:spPr>
          <a:xfrm>
            <a:off x="6757416" y="3259836"/>
            <a:ext cx="4297680" cy="384048"/>
          </a:xfrm>
          <a:prstGeom prst="rect">
            <a:avLst/>
          </a:prstGeom>
          <a:noFill/>
          <a:ln/>
        </p:spPr>
        <p:txBody>
          <a:bodyPr wrap="square" lIns="254" tIns="254" rIns="254" bIns="254" rtlCol="0" anchor="ctr">
            <a:normAutofit/>
          </a:bodyPr>
          <a:lstStyle/>
          <a:p>
            <a:pPr marL="0" indent="0">
              <a:buNone/>
            </a:pPr>
            <a:r>
              <a:rPr lang="en-US" sz="1800" dirty="0">
                <a:solidFill>
                  <a:srgbClr val="0F2F25"/>
                </a:solidFill>
                <a:latin typeface="Aptos" pitchFamily="34" charset="0"/>
                <a:ea typeface="Aptos" pitchFamily="34" charset="-122"/>
                <a:cs typeface="Aptos" pitchFamily="34" charset="-120"/>
              </a:rPr>
              <a:t>Self-reported happiness, 1–5 scale</a:t>
            </a:r>
            <a:endParaRPr lang="en-US" sz="1800" dirty="0"/>
          </a:p>
        </p:txBody>
      </p:sp>
      <p:sp>
        <p:nvSpPr>
          <p:cNvPr id="8" name="Shape 6"/>
          <p:cNvSpPr/>
          <p:nvPr/>
        </p:nvSpPr>
        <p:spPr>
          <a:xfrm>
            <a:off x="6556248" y="3854196"/>
            <a:ext cx="91440" cy="91440"/>
          </a:xfrm>
          <a:prstGeom prst="ellipse">
            <a:avLst/>
          </a:prstGeom>
          <a:solidFill>
            <a:srgbClr val="0B5D3B"/>
          </a:solidFill>
          <a:ln w="12700">
            <a:solidFill>
              <a:srgbClr val="0B5D3B"/>
            </a:solidFill>
            <a:prstDash val="solid"/>
          </a:ln>
        </p:spPr>
      </p:sp>
      <p:sp>
        <p:nvSpPr>
          <p:cNvPr id="9" name="Text 7"/>
          <p:cNvSpPr/>
          <p:nvPr/>
        </p:nvSpPr>
        <p:spPr>
          <a:xfrm>
            <a:off x="6757416" y="3781044"/>
            <a:ext cx="4297680" cy="384048"/>
          </a:xfrm>
          <a:prstGeom prst="rect">
            <a:avLst/>
          </a:prstGeom>
          <a:noFill/>
          <a:ln/>
        </p:spPr>
        <p:txBody>
          <a:bodyPr wrap="square" lIns="254" tIns="254" rIns="254" bIns="254" rtlCol="0" anchor="ctr">
            <a:normAutofit fontScale="85000" lnSpcReduction="20000"/>
          </a:bodyPr>
          <a:lstStyle/>
          <a:p>
            <a:pPr marL="0" indent="0">
              <a:buNone/>
            </a:pPr>
            <a:r>
              <a:rPr lang="en-US" sz="1800" dirty="0">
                <a:solidFill>
                  <a:srgbClr val="0F2F25"/>
                </a:solidFill>
                <a:latin typeface="Aptos" pitchFamily="34" charset="0"/>
                <a:ea typeface="Aptos" pitchFamily="34" charset="-122"/>
                <a:cs typeface="Aptos" pitchFamily="34" charset="-120"/>
              </a:rPr>
              <a:t>Willingness to pay for three more good-air-quality days</a:t>
            </a:r>
            <a:endParaRPr lang="en-US" sz="1800" dirty="0"/>
          </a:p>
        </p:txBody>
      </p:sp>
      <p:sp>
        <p:nvSpPr>
          <p:cNvPr id="10" name="Shape 8"/>
          <p:cNvSpPr/>
          <p:nvPr/>
        </p:nvSpPr>
        <p:spPr>
          <a:xfrm>
            <a:off x="6556248" y="4375404"/>
            <a:ext cx="91440" cy="91440"/>
          </a:xfrm>
          <a:prstGeom prst="ellipse">
            <a:avLst/>
          </a:prstGeom>
          <a:solidFill>
            <a:srgbClr val="0B5D3B"/>
          </a:solidFill>
          <a:ln w="12700">
            <a:solidFill>
              <a:srgbClr val="0B5D3B"/>
            </a:solidFill>
            <a:prstDash val="solid"/>
          </a:ln>
        </p:spPr>
      </p:sp>
      <p:sp>
        <p:nvSpPr>
          <p:cNvPr id="11" name="Text 9"/>
          <p:cNvSpPr/>
          <p:nvPr/>
        </p:nvSpPr>
        <p:spPr>
          <a:xfrm>
            <a:off x="6757416" y="4302252"/>
            <a:ext cx="4892040" cy="384048"/>
          </a:xfrm>
          <a:prstGeom prst="rect">
            <a:avLst/>
          </a:prstGeom>
          <a:noFill/>
          <a:ln/>
        </p:spPr>
        <p:txBody>
          <a:bodyPr wrap="square" lIns="254" tIns="254" rIns="254" bIns="254" rtlCol="0" anchor="ctr">
            <a:normAutofit fontScale="92500" lnSpcReduction="20000"/>
          </a:bodyPr>
          <a:lstStyle/>
          <a:p>
            <a:pPr marL="0" indent="0">
              <a:buNone/>
            </a:pPr>
            <a:r>
              <a:rPr lang="en-US" sz="1600" dirty="0">
                <a:solidFill>
                  <a:srgbClr val="0F2F25"/>
                </a:solidFill>
                <a:latin typeface="Aptos" pitchFamily="34" charset="0"/>
                <a:ea typeface="Aptos" pitchFamily="34" charset="-122"/>
                <a:cs typeface="Aptos" pitchFamily="34" charset="-120"/>
              </a:rPr>
              <a:t>Controls: age, gender, education, income, health, hukou, marriage, CCP membership, community type</a:t>
            </a:r>
            <a:endParaRPr lang="en-US" sz="1600" dirty="0"/>
          </a:p>
        </p:txBody>
      </p:sp>
      <p:sp>
        <p:nvSpPr>
          <p:cNvPr id="12" name="Text 10"/>
          <p:cNvSpPr/>
          <p:nvPr/>
        </p:nvSpPr>
        <p:spPr>
          <a:xfrm>
            <a:off x="6537960" y="1298448"/>
            <a:ext cx="2743200" cy="228600"/>
          </a:xfrm>
          <a:prstGeom prst="rect">
            <a:avLst/>
          </a:prstGeom>
          <a:noFill/>
          <a:ln/>
        </p:spPr>
        <p:txBody>
          <a:bodyPr wrap="square" lIns="0" tIns="0" rIns="0" bIns="0" rtlCol="0" anchor="ctr"/>
          <a:lstStyle/>
          <a:p>
            <a:pPr marL="0" indent="0">
              <a:buNone/>
            </a:pPr>
            <a:r>
              <a:rPr lang="en-US" sz="1700" b="1" dirty="0">
                <a:solidFill>
                  <a:srgbClr val="1F77B4"/>
                </a:solidFill>
              </a:rPr>
              <a:t>Main exposure</a:t>
            </a:r>
            <a:endParaRPr lang="en-US" sz="1700" dirty="0"/>
          </a:p>
        </p:txBody>
      </p:sp>
      <p:sp>
        <p:nvSpPr>
          <p:cNvPr id="13" name="Text 11"/>
          <p:cNvSpPr/>
          <p:nvPr/>
        </p:nvSpPr>
        <p:spPr>
          <a:xfrm>
            <a:off x="6537960" y="1719072"/>
            <a:ext cx="4800600" cy="841248"/>
          </a:xfrm>
          <a:prstGeom prst="rect">
            <a:avLst/>
          </a:prstGeom>
          <a:noFill/>
          <a:ln/>
        </p:spPr>
        <p:txBody>
          <a:bodyPr wrap="square" lIns="254" tIns="254" rIns="254" bIns="254" rtlCol="0" anchor="ctr">
            <a:normAutofit lnSpcReduction="10000"/>
          </a:bodyPr>
          <a:lstStyle/>
          <a:p>
            <a:pPr marL="0" indent="0">
              <a:buNone/>
            </a:pPr>
            <a:r>
              <a:rPr lang="en-US" sz="2000" b="1" dirty="0">
                <a:solidFill>
                  <a:srgbClr val="0F2F25"/>
                </a:solidFill>
              </a:rPr>
              <a:t>Province-level annual mean NDVI from NASA Harmonized Landsat–Sentinel vegetation products.</a:t>
            </a:r>
            <a:endParaRPr lang="en-US" sz="2000" dirty="0"/>
          </a:p>
        </p:txBody>
      </p:sp>
      <p:sp>
        <p:nvSpPr>
          <p:cNvPr id="14" name="Shape 12"/>
          <p:cNvSpPr/>
          <p:nvPr/>
        </p:nvSpPr>
        <p:spPr>
          <a:xfrm>
            <a:off x="5943600" y="1417320"/>
            <a:ext cx="0" cy="3749040"/>
          </a:xfrm>
          <a:prstGeom prst="line">
            <a:avLst/>
          </a:prstGeom>
          <a:noFill/>
          <a:ln w="15240">
            <a:solidFill>
              <a:srgbClr val="B5C4BB"/>
            </a:solidFill>
            <a:prstDash val="solid"/>
          </a:ln>
        </p:spPr>
      </p:sp>
      <p:sp>
        <p:nvSpPr>
          <p:cNvPr id="15" name="Text 13"/>
          <p:cNvSpPr/>
          <p:nvPr/>
        </p:nvSpPr>
        <p:spPr>
          <a:xfrm>
            <a:off x="777239" y="3950208"/>
            <a:ext cx="2926080" cy="228600"/>
          </a:xfrm>
          <a:prstGeom prst="rect">
            <a:avLst/>
          </a:prstGeom>
          <a:noFill/>
          <a:ln/>
        </p:spPr>
        <p:txBody>
          <a:bodyPr wrap="square" lIns="0" tIns="0" rIns="0" bIns="0" rtlCol="0" anchor="ctr"/>
          <a:lstStyle/>
          <a:p>
            <a:pPr marL="0" indent="0">
              <a:buNone/>
            </a:pPr>
            <a:r>
              <a:rPr lang="en-US" sz="1700" b="1" dirty="0">
                <a:solidFill>
                  <a:srgbClr val="0B5D3B"/>
                </a:solidFill>
              </a:rPr>
              <a:t>Expected patterns</a:t>
            </a:r>
            <a:endParaRPr lang="en-US" sz="1700" dirty="0"/>
          </a:p>
        </p:txBody>
      </p:sp>
      <p:sp>
        <p:nvSpPr>
          <p:cNvPr id="16" name="Shape 14"/>
          <p:cNvSpPr/>
          <p:nvPr/>
        </p:nvSpPr>
        <p:spPr>
          <a:xfrm>
            <a:off x="777239" y="4407408"/>
            <a:ext cx="91440" cy="91440"/>
          </a:xfrm>
          <a:prstGeom prst="ellipse">
            <a:avLst/>
          </a:prstGeom>
          <a:solidFill>
            <a:srgbClr val="1F77B4"/>
          </a:solidFill>
          <a:ln w="12700">
            <a:solidFill>
              <a:srgbClr val="1F77B4"/>
            </a:solidFill>
            <a:prstDash val="solid"/>
          </a:ln>
        </p:spPr>
      </p:sp>
      <p:sp>
        <p:nvSpPr>
          <p:cNvPr id="17" name="Text 15"/>
          <p:cNvSpPr/>
          <p:nvPr/>
        </p:nvSpPr>
        <p:spPr>
          <a:xfrm>
            <a:off x="978407" y="4334256"/>
            <a:ext cx="4754880" cy="384048"/>
          </a:xfrm>
          <a:prstGeom prst="rect">
            <a:avLst/>
          </a:prstGeom>
          <a:noFill/>
          <a:ln/>
        </p:spPr>
        <p:txBody>
          <a:bodyPr wrap="square" lIns="254" tIns="254" rIns="254" bIns="254" rtlCol="0" anchor="ctr">
            <a:normAutofit fontScale="85000" lnSpcReduction="20000"/>
          </a:bodyPr>
          <a:lstStyle/>
          <a:p>
            <a:pPr marL="0" indent="0">
              <a:buNone/>
            </a:pPr>
            <a:r>
              <a:rPr lang="en-US" sz="1700" dirty="0">
                <a:solidFill>
                  <a:srgbClr val="0F2F25"/>
                </a:solidFill>
                <a:latin typeface="Aptos" pitchFamily="34" charset="0"/>
                <a:ea typeface="Aptos" pitchFamily="34" charset="-122"/>
                <a:cs typeface="Aptos" pitchFamily="34" charset="-120"/>
              </a:rPr>
              <a:t>Greenness may raise happiness through amenities and quality of life.</a:t>
            </a:r>
            <a:endParaRPr lang="en-US" sz="1700" dirty="0"/>
          </a:p>
        </p:txBody>
      </p:sp>
      <p:sp>
        <p:nvSpPr>
          <p:cNvPr id="18" name="Shape 16"/>
          <p:cNvSpPr/>
          <p:nvPr/>
        </p:nvSpPr>
        <p:spPr>
          <a:xfrm>
            <a:off x="777239" y="4956048"/>
            <a:ext cx="91440" cy="91440"/>
          </a:xfrm>
          <a:prstGeom prst="ellipse">
            <a:avLst/>
          </a:prstGeom>
          <a:solidFill>
            <a:srgbClr val="1F77B4"/>
          </a:solidFill>
          <a:ln w="12700">
            <a:solidFill>
              <a:srgbClr val="1F77B4"/>
            </a:solidFill>
            <a:prstDash val="solid"/>
          </a:ln>
        </p:spPr>
      </p:sp>
      <p:sp>
        <p:nvSpPr>
          <p:cNvPr id="19" name="Text 17"/>
          <p:cNvSpPr/>
          <p:nvPr/>
        </p:nvSpPr>
        <p:spPr>
          <a:xfrm>
            <a:off x="978407" y="4882896"/>
            <a:ext cx="4754880" cy="384048"/>
          </a:xfrm>
          <a:prstGeom prst="rect">
            <a:avLst/>
          </a:prstGeom>
          <a:noFill/>
          <a:ln/>
        </p:spPr>
        <p:txBody>
          <a:bodyPr wrap="square" lIns="254" tIns="254" rIns="254" bIns="254" rtlCol="0" anchor="ctr">
            <a:normAutofit fontScale="85000" lnSpcReduction="20000"/>
          </a:bodyPr>
          <a:lstStyle/>
          <a:p>
            <a:pPr marL="0" indent="0">
              <a:buNone/>
            </a:pPr>
            <a:r>
              <a:rPr lang="en-US" sz="1700" dirty="0">
                <a:solidFill>
                  <a:srgbClr val="0F2F25"/>
                </a:solidFill>
                <a:latin typeface="Aptos" pitchFamily="34" charset="0"/>
                <a:ea typeface="Aptos" pitchFamily="34" charset="-122"/>
                <a:cs typeface="Aptos" pitchFamily="34" charset="-120"/>
              </a:rPr>
              <a:t>Greener places may show lower WTP if residents perceive less need for additional improvement.</a:t>
            </a:r>
            <a:endParaRPr lang="en-US" sz="1700" dirty="0"/>
          </a:p>
        </p:txBody>
      </p:sp>
      <p:sp>
        <p:nvSpPr>
          <p:cNvPr id="20" name="Text 18"/>
          <p:cNvSpPr/>
          <p:nvPr/>
        </p:nvSpPr>
        <p:spPr>
          <a:xfrm>
            <a:off x="685800" y="5852160"/>
            <a:ext cx="10789920" cy="365760"/>
          </a:xfrm>
          <a:prstGeom prst="rect">
            <a:avLst/>
          </a:prstGeom>
          <a:noFill/>
          <a:ln/>
        </p:spPr>
        <p:txBody>
          <a:bodyPr wrap="square" lIns="0" tIns="0" rIns="0" bIns="0" rtlCol="0" anchor="ctr"/>
          <a:lstStyle/>
          <a:p>
            <a:r>
              <a:rPr lang="en-US" altLang="zh-CN" b="1" dirty="0"/>
              <a:t>1. How does local greenness measure influence self-reported happiness in China?</a:t>
            </a:r>
            <a:endParaRPr lang="en-US" altLang="zh-CN" dirty="0"/>
          </a:p>
          <a:p>
            <a:r>
              <a:rPr lang="en-US" altLang="zh-CN" b="1" dirty="0"/>
              <a:t>2. What is the relationship between local greenness and people’s willingness to pay for environmental efforts?</a:t>
            </a:r>
            <a:endParaRPr lang="en-US" altLang="zh-CN" dirty="0"/>
          </a:p>
        </p:txBody>
      </p:sp>
      <p:sp>
        <p:nvSpPr>
          <p:cNvPr id="21" name="Text 19"/>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COMPUTATIONAL MOTIVATION</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Why this requires large-scale computing</a:t>
            </a:r>
            <a:endParaRPr lang="en-US" sz="3000" dirty="0"/>
          </a:p>
        </p:txBody>
      </p:sp>
      <p:sp>
        <p:nvSpPr>
          <p:cNvPr id="5" name="Text 3"/>
          <p:cNvSpPr/>
          <p:nvPr/>
        </p:nvSpPr>
        <p:spPr>
          <a:xfrm>
            <a:off x="658368" y="1298448"/>
            <a:ext cx="5669280" cy="411480"/>
          </a:xfrm>
          <a:prstGeom prst="rect">
            <a:avLst/>
          </a:prstGeom>
          <a:noFill/>
          <a:ln/>
        </p:spPr>
        <p:txBody>
          <a:bodyPr wrap="square" lIns="0" tIns="0" rIns="0" bIns="0" rtlCol="0" anchor="ctr"/>
          <a:lstStyle/>
          <a:p>
            <a:pPr marL="0" indent="0">
              <a:buNone/>
            </a:pPr>
            <a:r>
              <a:rPr lang="en-US" sz="2400" b="1" dirty="0">
                <a:solidFill>
                  <a:srgbClr val="0F2F25"/>
                </a:solidFill>
              </a:rPr>
              <a:t>Raw environmental data are cloud-hosted rasters, not a small CSV.</a:t>
            </a:r>
            <a:endParaRPr lang="en-US" sz="2400" dirty="0"/>
          </a:p>
        </p:txBody>
      </p:sp>
      <p:sp>
        <p:nvSpPr>
          <p:cNvPr id="6" name="Shape 4"/>
          <p:cNvSpPr/>
          <p:nvPr/>
        </p:nvSpPr>
        <p:spPr>
          <a:xfrm>
            <a:off x="685800" y="2066544"/>
            <a:ext cx="91440" cy="91440"/>
          </a:xfrm>
          <a:prstGeom prst="ellipse">
            <a:avLst/>
          </a:prstGeom>
          <a:solidFill>
            <a:srgbClr val="0B5D3B"/>
          </a:solidFill>
          <a:ln w="12700">
            <a:solidFill>
              <a:srgbClr val="0B5D3B"/>
            </a:solidFill>
            <a:prstDash val="solid"/>
          </a:ln>
        </p:spPr>
      </p:sp>
      <p:sp>
        <p:nvSpPr>
          <p:cNvPr id="7" name="Text 5"/>
          <p:cNvSpPr/>
          <p:nvPr/>
        </p:nvSpPr>
        <p:spPr>
          <a:xfrm>
            <a:off x="886968" y="1993392"/>
            <a:ext cx="5212080" cy="384048"/>
          </a:xfrm>
          <a:prstGeom prst="rect">
            <a:avLst/>
          </a:prstGeom>
          <a:noFill/>
          <a:ln/>
        </p:spPr>
        <p:txBody>
          <a:bodyPr wrap="square" lIns="254" tIns="254" rIns="254" bIns="254" rtlCol="0" anchor="ctr">
            <a:normAutofit/>
          </a:bodyPr>
          <a:lstStyle/>
          <a:p>
            <a:pPr marL="0" indent="0">
              <a:buNone/>
            </a:pPr>
            <a:r>
              <a:rPr lang="en-US" sz="1800" dirty="0">
                <a:solidFill>
                  <a:srgbClr val="0F2F25"/>
                </a:solidFill>
                <a:latin typeface="Aptos" pitchFamily="34" charset="0"/>
                <a:ea typeface="Aptos" pitchFamily="34" charset="-122"/>
                <a:cs typeface="Aptos" pitchFamily="34" charset="-120"/>
              </a:rPr>
              <a:t>Many GeoTIFFs across dates, tiles, and provinces</a:t>
            </a:r>
            <a:endParaRPr lang="en-US" sz="1800" dirty="0"/>
          </a:p>
        </p:txBody>
      </p:sp>
      <p:sp>
        <p:nvSpPr>
          <p:cNvPr id="8" name="Shape 6"/>
          <p:cNvSpPr/>
          <p:nvPr/>
        </p:nvSpPr>
        <p:spPr>
          <a:xfrm>
            <a:off x="685800" y="2615184"/>
            <a:ext cx="91440" cy="91440"/>
          </a:xfrm>
          <a:prstGeom prst="ellipse">
            <a:avLst/>
          </a:prstGeom>
          <a:solidFill>
            <a:srgbClr val="0B5D3B"/>
          </a:solidFill>
          <a:ln w="12700">
            <a:solidFill>
              <a:srgbClr val="0B5D3B"/>
            </a:solidFill>
            <a:prstDash val="solid"/>
          </a:ln>
        </p:spPr>
      </p:sp>
      <p:sp>
        <p:nvSpPr>
          <p:cNvPr id="9" name="Text 7"/>
          <p:cNvSpPr/>
          <p:nvPr/>
        </p:nvSpPr>
        <p:spPr>
          <a:xfrm>
            <a:off x="886968" y="2542032"/>
            <a:ext cx="5623560" cy="384048"/>
          </a:xfrm>
          <a:prstGeom prst="rect">
            <a:avLst/>
          </a:prstGeom>
          <a:noFill/>
          <a:ln/>
        </p:spPr>
        <p:txBody>
          <a:bodyPr wrap="square" lIns="254" tIns="254" rIns="254" bIns="254" rtlCol="0" anchor="ctr">
            <a:normAutofit fontScale="85000" lnSpcReduction="20000"/>
          </a:bodyPr>
          <a:lstStyle/>
          <a:p>
            <a:pPr marL="0" indent="0">
              <a:buNone/>
            </a:pPr>
            <a:r>
              <a:rPr lang="en-US" sz="1800" dirty="0">
                <a:solidFill>
                  <a:srgbClr val="0F2F25"/>
                </a:solidFill>
                <a:latin typeface="Aptos" pitchFamily="34" charset="0"/>
                <a:ea typeface="Aptos" pitchFamily="34" charset="-122"/>
                <a:cs typeface="Aptos" pitchFamily="34" charset="-120"/>
              </a:rPr>
              <a:t>Each province requires download, mosaic, clipping, masking, and aggregation</a:t>
            </a:r>
            <a:endParaRPr lang="en-US" sz="1800" dirty="0"/>
          </a:p>
        </p:txBody>
      </p:sp>
      <p:sp>
        <p:nvSpPr>
          <p:cNvPr id="10" name="Shape 8"/>
          <p:cNvSpPr/>
          <p:nvPr/>
        </p:nvSpPr>
        <p:spPr>
          <a:xfrm>
            <a:off x="685800" y="3163824"/>
            <a:ext cx="91440" cy="91440"/>
          </a:xfrm>
          <a:prstGeom prst="ellipse">
            <a:avLst/>
          </a:prstGeom>
          <a:solidFill>
            <a:srgbClr val="0B5D3B"/>
          </a:solidFill>
          <a:ln w="12700">
            <a:solidFill>
              <a:srgbClr val="0B5D3B"/>
            </a:solidFill>
            <a:prstDash val="solid"/>
          </a:ln>
        </p:spPr>
      </p:sp>
      <p:sp>
        <p:nvSpPr>
          <p:cNvPr id="11" name="Text 9"/>
          <p:cNvSpPr/>
          <p:nvPr/>
        </p:nvSpPr>
        <p:spPr>
          <a:xfrm>
            <a:off x="886968" y="3090672"/>
            <a:ext cx="5623560" cy="384048"/>
          </a:xfrm>
          <a:prstGeom prst="rect">
            <a:avLst/>
          </a:prstGeom>
          <a:noFill/>
          <a:ln/>
        </p:spPr>
        <p:txBody>
          <a:bodyPr wrap="square" lIns="254" tIns="254" rIns="254" bIns="254" rtlCol="0" anchor="ctr">
            <a:normAutofit fontScale="85000" lnSpcReduction="10000"/>
          </a:bodyPr>
          <a:lstStyle/>
          <a:p>
            <a:pPr marL="0" indent="0">
              <a:buNone/>
            </a:pPr>
            <a:r>
              <a:rPr lang="en-US" sz="1800" dirty="0">
                <a:solidFill>
                  <a:srgbClr val="0F2F25"/>
                </a:solidFill>
                <a:latin typeface="Aptos" pitchFamily="34" charset="0"/>
                <a:ea typeface="Aptos" pitchFamily="34" charset="-122"/>
                <a:cs typeface="Aptos" pitchFamily="34" charset="-120"/>
              </a:rPr>
              <a:t>Temporary NASA credentials make long local serial workflows fragile</a:t>
            </a:r>
            <a:endParaRPr lang="en-US" sz="1800" dirty="0"/>
          </a:p>
        </p:txBody>
      </p:sp>
      <p:sp>
        <p:nvSpPr>
          <p:cNvPr id="12" name="Shape 10"/>
          <p:cNvSpPr/>
          <p:nvPr/>
        </p:nvSpPr>
        <p:spPr>
          <a:xfrm>
            <a:off x="685800" y="3712464"/>
            <a:ext cx="91440" cy="91440"/>
          </a:xfrm>
          <a:prstGeom prst="ellipse">
            <a:avLst/>
          </a:prstGeom>
          <a:solidFill>
            <a:srgbClr val="0B5D3B"/>
          </a:solidFill>
          <a:ln w="12700">
            <a:solidFill>
              <a:srgbClr val="0B5D3B"/>
            </a:solidFill>
            <a:prstDash val="solid"/>
          </a:ln>
        </p:spPr>
      </p:sp>
      <p:sp>
        <p:nvSpPr>
          <p:cNvPr id="13" name="Text 11"/>
          <p:cNvSpPr/>
          <p:nvPr/>
        </p:nvSpPr>
        <p:spPr>
          <a:xfrm>
            <a:off x="886968" y="3639312"/>
            <a:ext cx="5623560" cy="384048"/>
          </a:xfrm>
          <a:prstGeom prst="rect">
            <a:avLst/>
          </a:prstGeom>
          <a:noFill/>
          <a:ln/>
        </p:spPr>
        <p:txBody>
          <a:bodyPr wrap="square" lIns="254" tIns="254" rIns="254" bIns="254" rtlCol="0" anchor="ctr">
            <a:normAutofit fontScale="85000" lnSpcReduction="10000"/>
          </a:bodyPr>
          <a:lstStyle/>
          <a:p>
            <a:pPr marL="0" indent="0">
              <a:buNone/>
            </a:pPr>
            <a:r>
              <a:rPr lang="en-US" sz="1800" dirty="0">
                <a:solidFill>
                  <a:srgbClr val="0F2F25"/>
                </a:solidFill>
                <a:latin typeface="Aptos" pitchFamily="34" charset="0"/>
                <a:ea typeface="Aptos" pitchFamily="34" charset="-122"/>
                <a:cs typeface="Aptos" pitchFamily="34" charset="-120"/>
              </a:rPr>
              <a:t>Province tasks are independent, so the workload is naturally parallel</a:t>
            </a:r>
            <a:endParaRPr lang="en-US" sz="1800" dirty="0"/>
          </a:p>
        </p:txBody>
      </p:sp>
      <p:sp>
        <p:nvSpPr>
          <p:cNvPr id="14" name="Text 12"/>
          <p:cNvSpPr/>
          <p:nvPr/>
        </p:nvSpPr>
        <p:spPr>
          <a:xfrm>
            <a:off x="6766560" y="1280160"/>
            <a:ext cx="3840480" cy="256032"/>
          </a:xfrm>
          <a:prstGeom prst="rect">
            <a:avLst/>
          </a:prstGeom>
          <a:noFill/>
          <a:ln/>
        </p:spPr>
        <p:txBody>
          <a:bodyPr wrap="square" lIns="0" tIns="0" rIns="0" bIns="0" rtlCol="0" anchor="ctr"/>
          <a:lstStyle/>
          <a:p>
            <a:pPr marL="0" indent="0">
              <a:buNone/>
            </a:pPr>
            <a:r>
              <a:rPr lang="en-US" sz="1700" b="1" dirty="0">
                <a:solidFill>
                  <a:srgbClr val="0B5D3B"/>
                </a:solidFill>
              </a:rPr>
              <a:t>Scalable unit of work</a:t>
            </a:r>
            <a:endParaRPr lang="en-US" sz="1700" dirty="0"/>
          </a:p>
        </p:txBody>
      </p:sp>
      <p:sp>
        <p:nvSpPr>
          <p:cNvPr id="15" name="Shape 13"/>
          <p:cNvSpPr/>
          <p:nvPr/>
        </p:nvSpPr>
        <p:spPr>
          <a:xfrm>
            <a:off x="6903720" y="1828800"/>
            <a:ext cx="1737360" cy="457200"/>
          </a:xfrm>
          <a:prstGeom prst="rect">
            <a:avLst/>
          </a:prstGeom>
          <a:solidFill>
            <a:srgbClr val="E6F0FA"/>
          </a:solidFill>
          <a:ln w="12700">
            <a:solidFill>
              <a:srgbClr val="1F77B4"/>
            </a:solidFill>
            <a:prstDash val="solid"/>
          </a:ln>
        </p:spPr>
      </p:sp>
      <p:sp>
        <p:nvSpPr>
          <p:cNvPr id="16" name="Text 14"/>
          <p:cNvSpPr/>
          <p:nvPr/>
        </p:nvSpPr>
        <p:spPr>
          <a:xfrm>
            <a:off x="6995160" y="1965960"/>
            <a:ext cx="1554480" cy="146304"/>
          </a:xfrm>
          <a:prstGeom prst="rect">
            <a:avLst/>
          </a:prstGeom>
          <a:noFill/>
          <a:ln/>
        </p:spPr>
        <p:txBody>
          <a:bodyPr wrap="square" lIns="0" tIns="0" rIns="0" bIns="0" rtlCol="0" anchor="ctr"/>
          <a:lstStyle/>
          <a:p>
            <a:pPr marL="0" indent="0" algn="ctr">
              <a:buNone/>
            </a:pPr>
            <a:r>
              <a:rPr lang="en-US" sz="1300" b="1" dirty="0">
                <a:solidFill>
                  <a:srgbClr val="1F77B4"/>
                </a:solidFill>
              </a:rPr>
              <a:t>province = task</a:t>
            </a:r>
            <a:endParaRPr lang="en-US" sz="1300" dirty="0"/>
          </a:p>
        </p:txBody>
      </p:sp>
      <p:sp>
        <p:nvSpPr>
          <p:cNvPr id="17" name="Shape 15"/>
          <p:cNvSpPr/>
          <p:nvPr/>
        </p:nvSpPr>
        <p:spPr>
          <a:xfrm>
            <a:off x="6903720" y="2468880"/>
            <a:ext cx="1737360" cy="457200"/>
          </a:xfrm>
          <a:prstGeom prst="rect">
            <a:avLst/>
          </a:prstGeom>
          <a:solidFill>
            <a:srgbClr val="E6F0FA"/>
          </a:solidFill>
          <a:ln w="12700">
            <a:solidFill>
              <a:srgbClr val="1F77B4"/>
            </a:solidFill>
            <a:prstDash val="solid"/>
          </a:ln>
        </p:spPr>
      </p:sp>
      <p:sp>
        <p:nvSpPr>
          <p:cNvPr id="18" name="Text 16"/>
          <p:cNvSpPr/>
          <p:nvPr/>
        </p:nvSpPr>
        <p:spPr>
          <a:xfrm>
            <a:off x="6995160" y="2606040"/>
            <a:ext cx="1554480" cy="146304"/>
          </a:xfrm>
          <a:prstGeom prst="rect">
            <a:avLst/>
          </a:prstGeom>
          <a:noFill/>
          <a:ln/>
        </p:spPr>
        <p:txBody>
          <a:bodyPr wrap="square" lIns="0" tIns="0" rIns="0" bIns="0" rtlCol="0" anchor="ctr"/>
          <a:lstStyle/>
          <a:p>
            <a:pPr marL="0" indent="0" algn="ctr">
              <a:buNone/>
            </a:pPr>
            <a:r>
              <a:rPr lang="en-US" sz="1300" b="1" dirty="0">
                <a:solidFill>
                  <a:srgbClr val="1F77B4"/>
                </a:solidFill>
              </a:rPr>
              <a:t>province = task</a:t>
            </a:r>
            <a:endParaRPr lang="en-US" sz="1300" dirty="0"/>
          </a:p>
        </p:txBody>
      </p:sp>
      <p:sp>
        <p:nvSpPr>
          <p:cNvPr id="19" name="Shape 17"/>
          <p:cNvSpPr/>
          <p:nvPr/>
        </p:nvSpPr>
        <p:spPr>
          <a:xfrm>
            <a:off x="6903720" y="3108960"/>
            <a:ext cx="1737360" cy="457200"/>
          </a:xfrm>
          <a:prstGeom prst="rect">
            <a:avLst/>
          </a:prstGeom>
          <a:solidFill>
            <a:srgbClr val="E6F0FA"/>
          </a:solidFill>
          <a:ln w="12700">
            <a:solidFill>
              <a:srgbClr val="1F77B4"/>
            </a:solidFill>
            <a:prstDash val="solid"/>
          </a:ln>
        </p:spPr>
      </p:sp>
      <p:sp>
        <p:nvSpPr>
          <p:cNvPr id="20" name="Text 18"/>
          <p:cNvSpPr/>
          <p:nvPr/>
        </p:nvSpPr>
        <p:spPr>
          <a:xfrm>
            <a:off x="6995160" y="3246120"/>
            <a:ext cx="1554480" cy="146304"/>
          </a:xfrm>
          <a:prstGeom prst="rect">
            <a:avLst/>
          </a:prstGeom>
          <a:noFill/>
          <a:ln/>
        </p:spPr>
        <p:txBody>
          <a:bodyPr wrap="square" lIns="0" tIns="0" rIns="0" bIns="0" rtlCol="0" anchor="ctr"/>
          <a:lstStyle/>
          <a:p>
            <a:pPr marL="0" indent="0" algn="ctr">
              <a:buNone/>
            </a:pPr>
            <a:r>
              <a:rPr lang="en-US" sz="1300" b="1" dirty="0">
                <a:solidFill>
                  <a:srgbClr val="1F77B4"/>
                </a:solidFill>
              </a:rPr>
              <a:t>province = task</a:t>
            </a:r>
            <a:endParaRPr lang="en-US" sz="1300" dirty="0"/>
          </a:p>
        </p:txBody>
      </p:sp>
      <p:sp>
        <p:nvSpPr>
          <p:cNvPr id="21" name="Shape 19"/>
          <p:cNvSpPr/>
          <p:nvPr/>
        </p:nvSpPr>
        <p:spPr>
          <a:xfrm>
            <a:off x="8915400" y="2697480"/>
            <a:ext cx="640080" cy="0"/>
          </a:xfrm>
          <a:prstGeom prst="line">
            <a:avLst/>
          </a:prstGeom>
          <a:noFill/>
          <a:ln w="25400">
            <a:solidFill>
              <a:srgbClr val="B5C4BB"/>
            </a:solidFill>
            <a:prstDash val="solid"/>
            <a:tailEnd type="triangle"/>
          </a:ln>
        </p:spPr>
      </p:sp>
      <p:sp>
        <p:nvSpPr>
          <p:cNvPr id="22" name="Shape 20"/>
          <p:cNvSpPr/>
          <p:nvPr/>
        </p:nvSpPr>
        <p:spPr>
          <a:xfrm>
            <a:off x="9738360" y="2240280"/>
            <a:ext cx="1371600" cy="914400"/>
          </a:xfrm>
          <a:prstGeom prst="chevron">
            <a:avLst/>
          </a:prstGeom>
          <a:solidFill>
            <a:srgbClr val="DCEEE5"/>
          </a:solidFill>
          <a:ln w="12700">
            <a:solidFill>
              <a:srgbClr val="1B9E77"/>
            </a:solidFill>
            <a:prstDash val="solid"/>
          </a:ln>
        </p:spPr>
      </p:sp>
      <p:sp>
        <p:nvSpPr>
          <p:cNvPr id="23" name="Text 21"/>
          <p:cNvSpPr/>
          <p:nvPr/>
        </p:nvSpPr>
        <p:spPr>
          <a:xfrm>
            <a:off x="9930384" y="2606040"/>
            <a:ext cx="960120" cy="146304"/>
          </a:xfrm>
          <a:prstGeom prst="rect">
            <a:avLst/>
          </a:prstGeom>
          <a:noFill/>
          <a:ln/>
        </p:spPr>
        <p:txBody>
          <a:bodyPr wrap="square" lIns="0" tIns="0" rIns="0" bIns="0" rtlCol="0" anchor="ctr"/>
          <a:lstStyle/>
          <a:p>
            <a:pPr marL="0" indent="0" algn="ctr">
              <a:buNone/>
            </a:pPr>
            <a:r>
              <a:rPr lang="en-US" sz="1400" b="1" dirty="0">
                <a:solidFill>
                  <a:srgbClr val="0B5D3B"/>
                </a:solidFill>
              </a:rPr>
              <a:t>SQS queue</a:t>
            </a:r>
            <a:endParaRPr lang="en-US" sz="1400" dirty="0"/>
          </a:p>
        </p:txBody>
      </p:sp>
      <p:sp>
        <p:nvSpPr>
          <p:cNvPr id="24" name="Text 22"/>
          <p:cNvSpPr/>
          <p:nvPr/>
        </p:nvSpPr>
        <p:spPr>
          <a:xfrm>
            <a:off x="6766560" y="4343400"/>
            <a:ext cx="4297680" cy="457200"/>
          </a:xfrm>
          <a:prstGeom prst="rect">
            <a:avLst/>
          </a:prstGeom>
          <a:noFill/>
          <a:ln/>
        </p:spPr>
        <p:txBody>
          <a:bodyPr wrap="square" lIns="0" tIns="0" rIns="0" bIns="0" rtlCol="0" anchor="ctr"/>
          <a:lstStyle/>
          <a:p>
            <a:pPr marL="0" indent="0">
              <a:buNone/>
            </a:pPr>
            <a:r>
              <a:rPr lang="en-US" sz="2200" b="1" dirty="0">
                <a:solidFill>
                  <a:srgbClr val="0F2F25"/>
                </a:solidFill>
              </a:rPr>
              <a:t>Scale by adding workers, not rewriting the code.</a:t>
            </a:r>
            <a:endParaRPr lang="en-US" sz="2200" dirty="0"/>
          </a:p>
        </p:txBody>
      </p:sp>
      <p:sp>
        <p:nvSpPr>
          <p:cNvPr id="25" name="Text 23"/>
          <p:cNvSpPr/>
          <p:nvPr/>
        </p:nvSpPr>
        <p:spPr>
          <a:xfrm>
            <a:off x="6766560" y="4983480"/>
            <a:ext cx="4480560" cy="320040"/>
          </a:xfrm>
          <a:prstGeom prst="rect">
            <a:avLst/>
          </a:prstGeom>
          <a:noFill/>
          <a:ln/>
        </p:spPr>
        <p:txBody>
          <a:bodyPr wrap="square" lIns="0" tIns="0" rIns="0" bIns="0" rtlCol="0" anchor="ctr"/>
          <a:lstStyle/>
          <a:p>
            <a:pPr marL="0" indent="0">
              <a:buNone/>
            </a:pPr>
            <a:r>
              <a:rPr lang="en-US" sz="1550" dirty="0">
                <a:solidFill>
                  <a:srgbClr val="5B6770"/>
                </a:solidFill>
              </a:rPr>
              <a:t>If a worker fails, the message reappears after the visibility timeout.</a:t>
            </a:r>
            <a:endParaRPr lang="en-US" sz="1550" dirty="0"/>
          </a:p>
        </p:txBody>
      </p:sp>
      <p:sp>
        <p:nvSpPr>
          <p:cNvPr id="26" name="Text 24"/>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PIPELINE ARCHITECTURE</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Large-scale computing strategy</a:t>
            </a:r>
            <a:endParaRPr lang="en-US" sz="3000" dirty="0"/>
          </a:p>
        </p:txBody>
      </p:sp>
      <p:sp>
        <p:nvSpPr>
          <p:cNvPr id="5" name="Shape 3"/>
          <p:cNvSpPr/>
          <p:nvPr/>
        </p:nvSpPr>
        <p:spPr>
          <a:xfrm>
            <a:off x="2331720" y="2688336"/>
            <a:ext cx="320040" cy="0"/>
          </a:xfrm>
          <a:prstGeom prst="line">
            <a:avLst/>
          </a:prstGeom>
          <a:noFill/>
          <a:ln w="25400">
            <a:solidFill>
              <a:srgbClr val="B5C4BB"/>
            </a:solidFill>
            <a:prstDash val="solid"/>
            <a:tailEnd type="triangle"/>
          </a:ln>
        </p:spPr>
      </p:sp>
      <p:sp>
        <p:nvSpPr>
          <p:cNvPr id="6" name="Shape 4"/>
          <p:cNvSpPr/>
          <p:nvPr/>
        </p:nvSpPr>
        <p:spPr>
          <a:xfrm>
            <a:off x="4251960" y="2688336"/>
            <a:ext cx="320040" cy="0"/>
          </a:xfrm>
          <a:prstGeom prst="line">
            <a:avLst/>
          </a:prstGeom>
          <a:noFill/>
          <a:ln w="25400">
            <a:solidFill>
              <a:srgbClr val="B5C4BB"/>
            </a:solidFill>
            <a:prstDash val="solid"/>
            <a:tailEnd type="triangle"/>
          </a:ln>
        </p:spPr>
      </p:sp>
      <p:sp>
        <p:nvSpPr>
          <p:cNvPr id="7" name="Shape 5"/>
          <p:cNvSpPr/>
          <p:nvPr/>
        </p:nvSpPr>
        <p:spPr>
          <a:xfrm>
            <a:off x="6172200" y="2688336"/>
            <a:ext cx="320040" cy="0"/>
          </a:xfrm>
          <a:prstGeom prst="line">
            <a:avLst/>
          </a:prstGeom>
          <a:noFill/>
          <a:ln w="25400">
            <a:solidFill>
              <a:srgbClr val="B5C4BB"/>
            </a:solidFill>
            <a:prstDash val="solid"/>
            <a:tailEnd type="triangle"/>
          </a:ln>
        </p:spPr>
      </p:sp>
      <p:sp>
        <p:nvSpPr>
          <p:cNvPr id="8" name="Shape 6"/>
          <p:cNvSpPr/>
          <p:nvPr/>
        </p:nvSpPr>
        <p:spPr>
          <a:xfrm>
            <a:off x="8092440" y="2688336"/>
            <a:ext cx="320040" cy="0"/>
          </a:xfrm>
          <a:prstGeom prst="line">
            <a:avLst/>
          </a:prstGeom>
          <a:noFill/>
          <a:ln w="25400">
            <a:solidFill>
              <a:srgbClr val="B5C4BB"/>
            </a:solidFill>
            <a:prstDash val="solid"/>
            <a:tailEnd type="triangle"/>
          </a:ln>
        </p:spPr>
      </p:sp>
      <p:sp>
        <p:nvSpPr>
          <p:cNvPr id="9" name="Shape 7"/>
          <p:cNvSpPr/>
          <p:nvPr/>
        </p:nvSpPr>
        <p:spPr>
          <a:xfrm>
            <a:off x="10012680" y="2688336"/>
            <a:ext cx="320040" cy="0"/>
          </a:xfrm>
          <a:prstGeom prst="line">
            <a:avLst/>
          </a:prstGeom>
          <a:noFill/>
          <a:ln w="25400">
            <a:solidFill>
              <a:srgbClr val="B5C4BB"/>
            </a:solidFill>
            <a:prstDash val="solid"/>
            <a:tailEnd type="triangle"/>
          </a:ln>
        </p:spPr>
      </p:sp>
      <p:sp>
        <p:nvSpPr>
          <p:cNvPr id="10" name="Shape 8"/>
          <p:cNvSpPr/>
          <p:nvPr/>
        </p:nvSpPr>
        <p:spPr>
          <a:xfrm>
            <a:off x="777240" y="2331720"/>
            <a:ext cx="1508760" cy="713232"/>
          </a:xfrm>
          <a:prstGeom prst="roundRect">
            <a:avLst>
              <a:gd name="adj" fmla="val 10256"/>
            </a:avLst>
          </a:prstGeom>
          <a:solidFill>
            <a:srgbClr val="E6F0FA"/>
          </a:solidFill>
          <a:ln w="15240">
            <a:solidFill>
              <a:srgbClr val="1F77B4"/>
            </a:solidFill>
            <a:prstDash val="solid"/>
          </a:ln>
        </p:spPr>
      </p:sp>
      <p:sp>
        <p:nvSpPr>
          <p:cNvPr id="11" name="Text 9"/>
          <p:cNvSpPr/>
          <p:nvPr/>
        </p:nvSpPr>
        <p:spPr>
          <a:xfrm>
            <a:off x="841248" y="2578608"/>
            <a:ext cx="1380744" cy="146304"/>
          </a:xfrm>
          <a:prstGeom prst="rect">
            <a:avLst/>
          </a:prstGeom>
          <a:noFill/>
          <a:ln/>
        </p:spPr>
        <p:txBody>
          <a:bodyPr wrap="square" lIns="0" tIns="0" rIns="0" bIns="0" rtlCol="0" anchor="ctr"/>
          <a:lstStyle/>
          <a:p>
            <a:pPr marL="0" indent="0" algn="ctr">
              <a:buNone/>
            </a:pPr>
            <a:r>
              <a:rPr lang="en-US" sz="1300" b="1" dirty="0">
                <a:solidFill>
                  <a:srgbClr val="1F77B4"/>
                </a:solidFill>
              </a:rPr>
              <a:t>S3 inputs</a:t>
            </a:r>
            <a:endParaRPr lang="en-US" sz="1300" dirty="0"/>
          </a:p>
        </p:txBody>
      </p:sp>
      <p:sp>
        <p:nvSpPr>
          <p:cNvPr id="12" name="Shape 10"/>
          <p:cNvSpPr/>
          <p:nvPr/>
        </p:nvSpPr>
        <p:spPr>
          <a:xfrm>
            <a:off x="2697480" y="2331720"/>
            <a:ext cx="1508760" cy="713232"/>
          </a:xfrm>
          <a:prstGeom prst="roundRect">
            <a:avLst>
              <a:gd name="adj" fmla="val 10256"/>
            </a:avLst>
          </a:prstGeom>
          <a:solidFill>
            <a:srgbClr val="DCEEE5"/>
          </a:solidFill>
          <a:ln w="15240">
            <a:solidFill>
              <a:srgbClr val="1B9E77"/>
            </a:solidFill>
            <a:prstDash val="solid"/>
          </a:ln>
        </p:spPr>
      </p:sp>
      <p:sp>
        <p:nvSpPr>
          <p:cNvPr id="13" name="Text 11"/>
          <p:cNvSpPr/>
          <p:nvPr/>
        </p:nvSpPr>
        <p:spPr>
          <a:xfrm>
            <a:off x="2761488" y="2578608"/>
            <a:ext cx="1380744" cy="146304"/>
          </a:xfrm>
          <a:prstGeom prst="rect">
            <a:avLst/>
          </a:prstGeom>
          <a:noFill/>
          <a:ln/>
        </p:spPr>
        <p:txBody>
          <a:bodyPr wrap="square" lIns="0" tIns="0" rIns="0" bIns="0" rtlCol="0" anchor="ctr"/>
          <a:lstStyle/>
          <a:p>
            <a:pPr marL="0" indent="0" algn="ctr">
              <a:buNone/>
            </a:pPr>
            <a:r>
              <a:rPr lang="en-US" sz="1300" b="1" dirty="0">
                <a:solidFill>
                  <a:srgbClr val="1B9E77"/>
                </a:solidFill>
              </a:rPr>
              <a:t>SQS tasks</a:t>
            </a:r>
            <a:endParaRPr lang="en-US" sz="1300" dirty="0"/>
          </a:p>
        </p:txBody>
      </p:sp>
      <p:sp>
        <p:nvSpPr>
          <p:cNvPr id="14" name="Shape 12"/>
          <p:cNvSpPr/>
          <p:nvPr/>
        </p:nvSpPr>
        <p:spPr>
          <a:xfrm>
            <a:off x="4617720" y="2331720"/>
            <a:ext cx="1508760" cy="713232"/>
          </a:xfrm>
          <a:prstGeom prst="roundRect">
            <a:avLst>
              <a:gd name="adj" fmla="val 10256"/>
            </a:avLst>
          </a:prstGeom>
          <a:solidFill>
            <a:srgbClr val="FFF4DF"/>
          </a:solidFill>
          <a:ln w="15240">
            <a:solidFill>
              <a:srgbClr val="D97706"/>
            </a:solidFill>
            <a:prstDash val="solid"/>
          </a:ln>
        </p:spPr>
      </p:sp>
      <p:sp>
        <p:nvSpPr>
          <p:cNvPr id="15" name="Text 13"/>
          <p:cNvSpPr/>
          <p:nvPr/>
        </p:nvSpPr>
        <p:spPr>
          <a:xfrm>
            <a:off x="4681728" y="2578608"/>
            <a:ext cx="1380744" cy="146304"/>
          </a:xfrm>
          <a:prstGeom prst="rect">
            <a:avLst/>
          </a:prstGeom>
          <a:noFill/>
          <a:ln/>
        </p:spPr>
        <p:txBody>
          <a:bodyPr wrap="square" lIns="0" tIns="0" rIns="0" bIns="0" rtlCol="0" anchor="ctr"/>
          <a:lstStyle/>
          <a:p>
            <a:pPr marL="0" indent="0" algn="ctr">
              <a:buNone/>
            </a:pPr>
            <a:r>
              <a:rPr lang="en-US" sz="1300" b="1" dirty="0">
                <a:solidFill>
                  <a:srgbClr val="D97706"/>
                </a:solidFill>
              </a:rPr>
              <a:t>EC2 workers</a:t>
            </a:r>
            <a:endParaRPr lang="en-US" sz="1300" dirty="0"/>
          </a:p>
        </p:txBody>
      </p:sp>
      <p:sp>
        <p:nvSpPr>
          <p:cNvPr id="16" name="Shape 14"/>
          <p:cNvSpPr/>
          <p:nvPr/>
        </p:nvSpPr>
        <p:spPr>
          <a:xfrm>
            <a:off x="6537960" y="2331720"/>
            <a:ext cx="1508760" cy="713232"/>
          </a:xfrm>
          <a:prstGeom prst="roundRect">
            <a:avLst>
              <a:gd name="adj" fmla="val 10256"/>
            </a:avLst>
          </a:prstGeom>
          <a:solidFill>
            <a:srgbClr val="E6F0FA"/>
          </a:solidFill>
          <a:ln w="15240">
            <a:solidFill>
              <a:srgbClr val="1F77B4"/>
            </a:solidFill>
            <a:prstDash val="solid"/>
          </a:ln>
        </p:spPr>
      </p:sp>
      <p:sp>
        <p:nvSpPr>
          <p:cNvPr id="17" name="Text 15"/>
          <p:cNvSpPr/>
          <p:nvPr/>
        </p:nvSpPr>
        <p:spPr>
          <a:xfrm>
            <a:off x="6601968" y="2578608"/>
            <a:ext cx="1380744" cy="146304"/>
          </a:xfrm>
          <a:prstGeom prst="rect">
            <a:avLst/>
          </a:prstGeom>
          <a:noFill/>
          <a:ln/>
        </p:spPr>
        <p:txBody>
          <a:bodyPr wrap="square" lIns="0" tIns="0" rIns="0" bIns="0" rtlCol="0" anchor="ctr"/>
          <a:lstStyle/>
          <a:p>
            <a:pPr marL="0" indent="0" algn="ctr">
              <a:buNone/>
            </a:pPr>
            <a:r>
              <a:rPr lang="en-US" sz="1300" b="1" dirty="0">
                <a:solidFill>
                  <a:srgbClr val="1F77B4"/>
                </a:solidFill>
              </a:rPr>
              <a:t>S3 outputs</a:t>
            </a:r>
            <a:endParaRPr lang="en-US" sz="1300" dirty="0"/>
          </a:p>
        </p:txBody>
      </p:sp>
      <p:sp>
        <p:nvSpPr>
          <p:cNvPr id="18" name="Shape 16"/>
          <p:cNvSpPr/>
          <p:nvPr/>
        </p:nvSpPr>
        <p:spPr>
          <a:xfrm>
            <a:off x="8458200" y="2331720"/>
            <a:ext cx="1508760" cy="713232"/>
          </a:xfrm>
          <a:prstGeom prst="roundRect">
            <a:avLst>
              <a:gd name="adj" fmla="val 10256"/>
            </a:avLst>
          </a:prstGeom>
          <a:solidFill>
            <a:srgbClr val="DCEEE5"/>
          </a:solidFill>
          <a:ln w="15240">
            <a:solidFill>
              <a:srgbClr val="1B9E77"/>
            </a:solidFill>
            <a:prstDash val="solid"/>
          </a:ln>
        </p:spPr>
      </p:sp>
      <p:sp>
        <p:nvSpPr>
          <p:cNvPr id="19" name="Text 17"/>
          <p:cNvSpPr/>
          <p:nvPr/>
        </p:nvSpPr>
        <p:spPr>
          <a:xfrm>
            <a:off x="8522208" y="2578608"/>
            <a:ext cx="1380744" cy="146304"/>
          </a:xfrm>
          <a:prstGeom prst="rect">
            <a:avLst/>
          </a:prstGeom>
          <a:noFill/>
          <a:ln/>
        </p:spPr>
        <p:txBody>
          <a:bodyPr wrap="square" lIns="0" tIns="0" rIns="0" bIns="0" rtlCol="0" anchor="ctr"/>
          <a:lstStyle/>
          <a:p>
            <a:pPr marL="0" indent="0" algn="ctr">
              <a:buNone/>
            </a:pPr>
            <a:r>
              <a:rPr lang="en-US" sz="1300" b="1" dirty="0">
                <a:solidFill>
                  <a:srgbClr val="1B9E77"/>
                </a:solidFill>
              </a:rPr>
              <a:t>EMR Spark</a:t>
            </a:r>
            <a:endParaRPr lang="en-US" sz="1300" dirty="0"/>
          </a:p>
        </p:txBody>
      </p:sp>
      <p:sp>
        <p:nvSpPr>
          <p:cNvPr id="20" name="Shape 18"/>
          <p:cNvSpPr/>
          <p:nvPr/>
        </p:nvSpPr>
        <p:spPr>
          <a:xfrm>
            <a:off x="10378440" y="2331720"/>
            <a:ext cx="1508760" cy="713232"/>
          </a:xfrm>
          <a:prstGeom prst="roundRect">
            <a:avLst>
              <a:gd name="adj" fmla="val 10256"/>
            </a:avLst>
          </a:prstGeom>
          <a:solidFill>
            <a:srgbClr val="F4E8FF"/>
          </a:solidFill>
          <a:ln w="15240">
            <a:solidFill>
              <a:srgbClr val="7E22CE"/>
            </a:solidFill>
            <a:prstDash val="solid"/>
          </a:ln>
        </p:spPr>
      </p:sp>
      <p:sp>
        <p:nvSpPr>
          <p:cNvPr id="21" name="Text 19"/>
          <p:cNvSpPr/>
          <p:nvPr/>
        </p:nvSpPr>
        <p:spPr>
          <a:xfrm>
            <a:off x="10442448" y="2578608"/>
            <a:ext cx="1380744" cy="146304"/>
          </a:xfrm>
          <a:prstGeom prst="rect">
            <a:avLst/>
          </a:prstGeom>
          <a:noFill/>
          <a:ln/>
        </p:spPr>
        <p:txBody>
          <a:bodyPr wrap="square" lIns="0" tIns="0" rIns="0" bIns="0" rtlCol="0" anchor="ctr"/>
          <a:lstStyle/>
          <a:p>
            <a:pPr marL="0" indent="0" algn="ctr">
              <a:buNone/>
            </a:pPr>
            <a:r>
              <a:rPr lang="en-US" sz="1300" b="1" dirty="0">
                <a:solidFill>
                  <a:srgbClr val="7E22CE"/>
                </a:solidFill>
              </a:rPr>
              <a:t>Results</a:t>
            </a:r>
            <a:endParaRPr lang="en-US" sz="1300" dirty="0"/>
          </a:p>
        </p:txBody>
      </p:sp>
      <p:sp>
        <p:nvSpPr>
          <p:cNvPr id="22" name="Text 20"/>
          <p:cNvSpPr/>
          <p:nvPr/>
        </p:nvSpPr>
        <p:spPr>
          <a:xfrm>
            <a:off x="777240" y="1234440"/>
            <a:ext cx="6217920" cy="320040"/>
          </a:xfrm>
          <a:prstGeom prst="rect">
            <a:avLst/>
          </a:prstGeom>
          <a:noFill/>
          <a:ln/>
        </p:spPr>
        <p:txBody>
          <a:bodyPr wrap="square" lIns="0" tIns="0" rIns="0" bIns="0" rtlCol="0" anchor="ctr"/>
          <a:lstStyle/>
          <a:p>
            <a:pPr marL="0" indent="0">
              <a:buNone/>
            </a:pPr>
            <a:r>
              <a:rPr lang="en-US" sz="2400" b="1" dirty="0">
                <a:solidFill>
                  <a:srgbClr val="0F2F25"/>
                </a:solidFill>
              </a:rPr>
              <a:t>Modular storage, scheduling, compute, and analysis</a:t>
            </a:r>
            <a:endParaRPr lang="en-US" sz="2400" dirty="0"/>
          </a:p>
        </p:txBody>
      </p:sp>
      <p:sp>
        <p:nvSpPr>
          <p:cNvPr id="23" name="Text 21"/>
          <p:cNvSpPr/>
          <p:nvPr/>
        </p:nvSpPr>
        <p:spPr>
          <a:xfrm>
            <a:off x="777240" y="3657600"/>
            <a:ext cx="10561320" cy="1005840"/>
          </a:xfrm>
          <a:prstGeom prst="rect">
            <a:avLst/>
          </a:prstGeom>
          <a:noFill/>
          <a:ln/>
        </p:spPr>
        <p:txBody>
          <a:bodyPr wrap="square" lIns="508" tIns="508" rIns="508" bIns="508" rtlCol="0" anchor="ctr">
            <a:normAutofit/>
          </a:bodyPr>
          <a:lstStyle/>
          <a:p>
            <a:pPr marL="0" indent="0">
              <a:buNone/>
            </a:pPr>
            <a:r>
              <a:rPr lang="en-US" sz="1800" dirty="0">
                <a:solidFill>
                  <a:srgbClr val="0F2F25"/>
                </a:solidFill>
              </a:rPr>
              <a:t>Inputs: scripts, boundaries, province manifests, and cleaned CGSS CSV are kept in S3. SQS schedules one province per message. Stateless EC2 workers consume tasks and upload outputs. EMR Spark merges the outputs with survey data and runs regressions.</a:t>
            </a:r>
            <a:endParaRPr lang="en-US" sz="1800" dirty="0"/>
          </a:p>
        </p:txBody>
      </p:sp>
      <p:sp>
        <p:nvSpPr>
          <p:cNvPr id="24" name="Shape 22"/>
          <p:cNvSpPr/>
          <p:nvPr/>
        </p:nvSpPr>
        <p:spPr>
          <a:xfrm>
            <a:off x="777240" y="5074920"/>
            <a:ext cx="10561320" cy="0"/>
          </a:xfrm>
          <a:prstGeom prst="line">
            <a:avLst/>
          </a:prstGeom>
          <a:noFill/>
          <a:ln w="12700">
            <a:solidFill>
              <a:srgbClr val="B5C4BB"/>
            </a:solidFill>
            <a:prstDash val="solid"/>
          </a:ln>
        </p:spPr>
      </p:sp>
      <p:sp>
        <p:nvSpPr>
          <p:cNvPr id="25" name="Text 23"/>
          <p:cNvSpPr/>
          <p:nvPr/>
        </p:nvSpPr>
        <p:spPr>
          <a:xfrm>
            <a:off x="777240" y="5440680"/>
            <a:ext cx="2468880" cy="228600"/>
          </a:xfrm>
          <a:prstGeom prst="rect">
            <a:avLst/>
          </a:prstGeom>
          <a:noFill/>
          <a:ln/>
        </p:spPr>
        <p:txBody>
          <a:bodyPr wrap="square" lIns="0" tIns="0" rIns="0" bIns="0" rtlCol="0" anchor="ctr"/>
          <a:lstStyle/>
          <a:p>
            <a:pPr marL="0" indent="0">
              <a:buNone/>
            </a:pPr>
            <a:r>
              <a:rPr lang="en-US" sz="1600" b="1" dirty="0">
                <a:solidFill>
                  <a:srgbClr val="0B5D3B"/>
                </a:solidFill>
              </a:rPr>
              <a:t>Scalability principle</a:t>
            </a:r>
            <a:endParaRPr lang="en-US" sz="1600" dirty="0"/>
          </a:p>
        </p:txBody>
      </p:sp>
      <p:sp>
        <p:nvSpPr>
          <p:cNvPr id="26" name="Text 24"/>
          <p:cNvSpPr/>
          <p:nvPr/>
        </p:nvSpPr>
        <p:spPr>
          <a:xfrm>
            <a:off x="3429000" y="5413248"/>
            <a:ext cx="7680960" cy="347472"/>
          </a:xfrm>
          <a:prstGeom prst="rect">
            <a:avLst/>
          </a:prstGeom>
          <a:noFill/>
          <a:ln/>
        </p:spPr>
        <p:txBody>
          <a:bodyPr wrap="square" lIns="0" tIns="0" rIns="0" bIns="0" rtlCol="0" anchor="ctr"/>
          <a:lstStyle/>
          <a:p>
            <a:pPr marL="0" indent="0">
              <a:buNone/>
            </a:pPr>
            <a:r>
              <a:rPr lang="en-US" sz="1700" dirty="0">
                <a:solidFill>
                  <a:srgbClr val="5B6770"/>
                </a:solidFill>
              </a:rPr>
              <a:t>More provinces, years, or vegetation indices can be handled by adding task messages and workers rather than changing the underlying computation.</a:t>
            </a:r>
            <a:endParaRPr lang="en-US" sz="1700" dirty="0"/>
          </a:p>
        </p:txBody>
      </p:sp>
      <p:sp>
        <p:nvSpPr>
          <p:cNvPr id="27" name="Text 25"/>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VALIDATION AND SCALING</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From Shanghai pilot to full distributed run</a:t>
            </a:r>
            <a:endParaRPr lang="en-US" sz="3000" dirty="0"/>
          </a:p>
        </p:txBody>
      </p:sp>
      <p:sp>
        <p:nvSpPr>
          <p:cNvPr id="5" name="Text 3"/>
          <p:cNvSpPr/>
          <p:nvPr/>
        </p:nvSpPr>
        <p:spPr>
          <a:xfrm>
            <a:off x="658368" y="1234440"/>
            <a:ext cx="4297680" cy="274320"/>
          </a:xfrm>
          <a:prstGeom prst="rect">
            <a:avLst/>
          </a:prstGeom>
          <a:noFill/>
          <a:ln/>
        </p:spPr>
        <p:txBody>
          <a:bodyPr wrap="square" lIns="0" tIns="0" rIns="0" bIns="0" rtlCol="0" anchor="ctr"/>
          <a:lstStyle/>
          <a:p>
            <a:pPr marL="0" indent="0">
              <a:buNone/>
            </a:pPr>
            <a:r>
              <a:rPr lang="en-US" sz="2000" b="1" dirty="0">
                <a:solidFill>
                  <a:srgbClr val="0F2F25"/>
                </a:solidFill>
              </a:rPr>
              <a:t>Testing workflow, made concise</a:t>
            </a:r>
            <a:endParaRPr lang="en-US" sz="2000" dirty="0"/>
          </a:p>
        </p:txBody>
      </p:sp>
      <p:sp>
        <p:nvSpPr>
          <p:cNvPr id="6" name="Shape 4"/>
          <p:cNvSpPr/>
          <p:nvPr/>
        </p:nvSpPr>
        <p:spPr>
          <a:xfrm>
            <a:off x="713232" y="1810512"/>
            <a:ext cx="91440" cy="91440"/>
          </a:xfrm>
          <a:prstGeom prst="ellipse">
            <a:avLst/>
          </a:prstGeom>
          <a:solidFill>
            <a:srgbClr val="0B5D3B"/>
          </a:solidFill>
          <a:ln w="12700">
            <a:solidFill>
              <a:srgbClr val="0B5D3B"/>
            </a:solidFill>
            <a:prstDash val="solid"/>
          </a:ln>
        </p:spPr>
      </p:sp>
      <p:sp>
        <p:nvSpPr>
          <p:cNvPr id="7" name="Text 5"/>
          <p:cNvSpPr/>
          <p:nvPr/>
        </p:nvSpPr>
        <p:spPr>
          <a:xfrm>
            <a:off x="914400" y="1737360"/>
            <a:ext cx="5303520" cy="384048"/>
          </a:xfrm>
          <a:prstGeom prst="rect">
            <a:avLst/>
          </a:prstGeom>
          <a:noFill/>
          <a:ln/>
        </p:spPr>
        <p:txBody>
          <a:bodyPr wrap="square" lIns="254" tIns="254" rIns="254" bIns="254" rtlCol="0" anchor="ctr">
            <a:normAutofit/>
          </a:bodyPr>
          <a:lstStyle/>
          <a:p>
            <a:pPr marL="0" indent="0">
              <a:buNone/>
            </a:pPr>
            <a:r>
              <a:rPr lang="en-US" sz="1650" dirty="0">
                <a:solidFill>
                  <a:srgbClr val="0F2F25"/>
                </a:solidFill>
                <a:latin typeface="Aptos" pitchFamily="34" charset="0"/>
                <a:ea typeface="Aptos" pitchFamily="34" charset="-122"/>
                <a:cs typeface="Aptos" pitchFamily="34" charset="-120"/>
              </a:rPr>
              <a:t>Filter Earthdata links to NDVI-only S3 manifests</a:t>
            </a:r>
            <a:endParaRPr lang="en-US" sz="1650" dirty="0"/>
          </a:p>
        </p:txBody>
      </p:sp>
      <p:sp>
        <p:nvSpPr>
          <p:cNvPr id="8" name="Shape 6"/>
          <p:cNvSpPr/>
          <p:nvPr/>
        </p:nvSpPr>
        <p:spPr>
          <a:xfrm>
            <a:off x="713232" y="2340864"/>
            <a:ext cx="91440" cy="91440"/>
          </a:xfrm>
          <a:prstGeom prst="ellipse">
            <a:avLst/>
          </a:prstGeom>
          <a:solidFill>
            <a:srgbClr val="0B5D3B"/>
          </a:solidFill>
          <a:ln w="12700">
            <a:solidFill>
              <a:srgbClr val="0B5D3B"/>
            </a:solidFill>
            <a:prstDash val="solid"/>
          </a:ln>
        </p:spPr>
      </p:sp>
      <p:sp>
        <p:nvSpPr>
          <p:cNvPr id="9" name="Text 7"/>
          <p:cNvSpPr/>
          <p:nvPr/>
        </p:nvSpPr>
        <p:spPr>
          <a:xfrm>
            <a:off x="914400" y="2267712"/>
            <a:ext cx="5303520" cy="384048"/>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0F2F25"/>
                </a:solidFill>
                <a:latin typeface="Aptos" pitchFamily="34" charset="0"/>
                <a:ea typeface="Aptos" pitchFamily="34" charset="-122"/>
                <a:cs typeface="Aptos" pitchFamily="34" charset="-120"/>
              </a:rPr>
              <a:t>Run Shanghai locally: parse dates, mosaic tiles, clip to ADM1 boundary</a:t>
            </a:r>
            <a:endParaRPr lang="en-US" sz="1650" dirty="0"/>
          </a:p>
        </p:txBody>
      </p:sp>
      <p:sp>
        <p:nvSpPr>
          <p:cNvPr id="10" name="Shape 8"/>
          <p:cNvSpPr/>
          <p:nvPr/>
        </p:nvSpPr>
        <p:spPr>
          <a:xfrm>
            <a:off x="713232" y="2871216"/>
            <a:ext cx="91440" cy="91440"/>
          </a:xfrm>
          <a:prstGeom prst="ellipse">
            <a:avLst/>
          </a:prstGeom>
          <a:solidFill>
            <a:srgbClr val="0B5D3B"/>
          </a:solidFill>
          <a:ln w="12700">
            <a:solidFill>
              <a:srgbClr val="0B5D3B"/>
            </a:solidFill>
            <a:prstDash val="solid"/>
          </a:ln>
        </p:spPr>
      </p:sp>
      <p:sp>
        <p:nvSpPr>
          <p:cNvPr id="11" name="Text 9"/>
          <p:cNvSpPr/>
          <p:nvPr/>
        </p:nvSpPr>
        <p:spPr>
          <a:xfrm>
            <a:off x="914400" y="2798064"/>
            <a:ext cx="5303520" cy="384048"/>
          </a:xfrm>
          <a:prstGeom prst="rect">
            <a:avLst/>
          </a:prstGeom>
          <a:noFill/>
          <a:ln/>
        </p:spPr>
        <p:txBody>
          <a:bodyPr wrap="square" lIns="254" tIns="254" rIns="254" bIns="254" rtlCol="0" anchor="ctr">
            <a:normAutofit fontScale="92500"/>
          </a:bodyPr>
          <a:lstStyle/>
          <a:p>
            <a:pPr marL="0" indent="0">
              <a:buNone/>
            </a:pPr>
            <a:r>
              <a:rPr lang="en-US" sz="1650" dirty="0">
                <a:solidFill>
                  <a:srgbClr val="0F2F25"/>
                </a:solidFill>
                <a:latin typeface="Aptos" pitchFamily="34" charset="0"/>
                <a:ea typeface="Aptos" pitchFamily="34" charset="-122"/>
                <a:cs typeface="Aptos" pitchFamily="34" charset="-120"/>
              </a:rPr>
              <a:t>Move same workflow to EC2 with NASA temporary S3 credentials</a:t>
            </a:r>
            <a:endParaRPr lang="en-US" sz="1650" dirty="0"/>
          </a:p>
        </p:txBody>
      </p:sp>
      <p:sp>
        <p:nvSpPr>
          <p:cNvPr id="12" name="Shape 10"/>
          <p:cNvSpPr/>
          <p:nvPr/>
        </p:nvSpPr>
        <p:spPr>
          <a:xfrm>
            <a:off x="713232" y="3401568"/>
            <a:ext cx="91440" cy="91440"/>
          </a:xfrm>
          <a:prstGeom prst="ellipse">
            <a:avLst/>
          </a:prstGeom>
          <a:solidFill>
            <a:srgbClr val="0B5D3B"/>
          </a:solidFill>
          <a:ln w="12700">
            <a:solidFill>
              <a:srgbClr val="0B5D3B"/>
            </a:solidFill>
            <a:prstDash val="solid"/>
          </a:ln>
        </p:spPr>
      </p:sp>
      <p:sp>
        <p:nvSpPr>
          <p:cNvPr id="13" name="Text 11"/>
          <p:cNvSpPr/>
          <p:nvPr/>
        </p:nvSpPr>
        <p:spPr>
          <a:xfrm>
            <a:off x="914400" y="3328416"/>
            <a:ext cx="5303520" cy="384048"/>
          </a:xfrm>
          <a:prstGeom prst="rect">
            <a:avLst/>
          </a:prstGeom>
          <a:noFill/>
          <a:ln/>
        </p:spPr>
        <p:txBody>
          <a:bodyPr wrap="square" lIns="254" tIns="254" rIns="254" bIns="254" rtlCol="0" anchor="ctr">
            <a:normAutofit fontScale="92500"/>
          </a:bodyPr>
          <a:lstStyle/>
          <a:p>
            <a:pPr marL="0" indent="0">
              <a:buNone/>
            </a:pPr>
            <a:r>
              <a:rPr lang="en-US" sz="1650" dirty="0">
                <a:solidFill>
                  <a:srgbClr val="0F2F25"/>
                </a:solidFill>
                <a:latin typeface="Aptos" pitchFamily="34" charset="0"/>
                <a:ea typeface="Aptos" pitchFamily="34" charset="-122"/>
                <a:cs typeface="Aptos" pitchFamily="34" charset="-120"/>
              </a:rPr>
              <a:t>Fix hidden CRLF manifest issue and verify S3 upload of outputs</a:t>
            </a:r>
            <a:endParaRPr lang="en-US" sz="1650" dirty="0"/>
          </a:p>
        </p:txBody>
      </p:sp>
      <p:sp>
        <p:nvSpPr>
          <p:cNvPr id="14" name="Shape 12"/>
          <p:cNvSpPr/>
          <p:nvPr/>
        </p:nvSpPr>
        <p:spPr>
          <a:xfrm>
            <a:off x="6172200" y="1188720"/>
            <a:ext cx="0" cy="4526280"/>
          </a:xfrm>
          <a:prstGeom prst="line">
            <a:avLst/>
          </a:prstGeom>
          <a:noFill/>
          <a:ln w="13970">
            <a:solidFill>
              <a:srgbClr val="B5C4BB"/>
            </a:solidFill>
            <a:prstDash val="solid"/>
          </a:ln>
        </p:spPr>
      </p:sp>
      <p:sp>
        <p:nvSpPr>
          <p:cNvPr id="15" name="Text 13"/>
          <p:cNvSpPr/>
          <p:nvPr/>
        </p:nvSpPr>
        <p:spPr>
          <a:xfrm>
            <a:off x="6629400" y="1234440"/>
            <a:ext cx="3931920" cy="274320"/>
          </a:xfrm>
          <a:prstGeom prst="rect">
            <a:avLst/>
          </a:prstGeom>
          <a:noFill/>
          <a:ln/>
        </p:spPr>
        <p:txBody>
          <a:bodyPr wrap="square" lIns="0" tIns="0" rIns="0" bIns="0" rtlCol="0" anchor="ctr"/>
          <a:lstStyle/>
          <a:p>
            <a:pPr marL="0" indent="0">
              <a:buNone/>
            </a:pPr>
            <a:r>
              <a:rPr lang="en-US" sz="2000" b="1" dirty="0">
                <a:solidFill>
                  <a:srgbClr val="0F2F25"/>
                </a:solidFill>
              </a:rPr>
              <a:t>Full pipeline scale-up</a:t>
            </a:r>
            <a:endParaRPr lang="en-US" sz="2000" dirty="0"/>
          </a:p>
        </p:txBody>
      </p:sp>
      <p:sp>
        <p:nvSpPr>
          <p:cNvPr id="16" name="Shape 14"/>
          <p:cNvSpPr/>
          <p:nvPr/>
        </p:nvSpPr>
        <p:spPr>
          <a:xfrm>
            <a:off x="6675120" y="1783080"/>
            <a:ext cx="2926080" cy="310896"/>
          </a:xfrm>
          <a:prstGeom prst="roundRect">
            <a:avLst>
              <a:gd name="adj" fmla="val 23529"/>
            </a:avLst>
          </a:prstGeom>
          <a:solidFill>
            <a:srgbClr val="E6F0FA"/>
          </a:solidFill>
          <a:ln w="12700">
            <a:solidFill>
              <a:srgbClr val="E6F0FA"/>
            </a:solidFill>
            <a:prstDash val="solid"/>
          </a:ln>
        </p:spPr>
      </p:sp>
      <p:sp>
        <p:nvSpPr>
          <p:cNvPr id="17" name="Text 15"/>
          <p:cNvSpPr/>
          <p:nvPr/>
        </p:nvSpPr>
        <p:spPr>
          <a:xfrm>
            <a:off x="6766560" y="1847088"/>
            <a:ext cx="2743200" cy="146304"/>
          </a:xfrm>
          <a:prstGeom prst="rect">
            <a:avLst/>
          </a:prstGeom>
          <a:noFill/>
          <a:ln/>
        </p:spPr>
        <p:txBody>
          <a:bodyPr wrap="square" lIns="0" tIns="0" rIns="0" bIns="0" rtlCol="0" anchor="ctr"/>
          <a:lstStyle/>
          <a:p>
            <a:pPr marL="0" indent="0" algn="ctr">
              <a:buNone/>
            </a:pPr>
            <a:r>
              <a:rPr lang="en-US" sz="1050" b="1" dirty="0">
                <a:solidFill>
                  <a:srgbClr val="0B5D3B"/>
                </a:solidFill>
                <a:latin typeface="Aptos" pitchFamily="34" charset="0"/>
                <a:ea typeface="Aptos" pitchFamily="34" charset="-122"/>
                <a:cs typeface="Aptos" pitchFamily="34" charset="-120"/>
              </a:rPr>
              <a:t>28 provinces with NDVI outputs</a:t>
            </a:r>
            <a:endParaRPr lang="en-US" sz="1050" dirty="0"/>
          </a:p>
        </p:txBody>
      </p:sp>
      <p:sp>
        <p:nvSpPr>
          <p:cNvPr id="18" name="Shape 16"/>
          <p:cNvSpPr/>
          <p:nvPr/>
        </p:nvSpPr>
        <p:spPr>
          <a:xfrm>
            <a:off x="6675120" y="2331720"/>
            <a:ext cx="3200400" cy="310896"/>
          </a:xfrm>
          <a:prstGeom prst="roundRect">
            <a:avLst>
              <a:gd name="adj" fmla="val 23529"/>
            </a:avLst>
          </a:prstGeom>
          <a:solidFill>
            <a:srgbClr val="DCEEE5"/>
          </a:solidFill>
          <a:ln w="12700">
            <a:solidFill>
              <a:srgbClr val="DCEEE5"/>
            </a:solidFill>
            <a:prstDash val="solid"/>
          </a:ln>
        </p:spPr>
      </p:sp>
      <p:sp>
        <p:nvSpPr>
          <p:cNvPr id="19" name="Text 17"/>
          <p:cNvSpPr/>
          <p:nvPr/>
        </p:nvSpPr>
        <p:spPr>
          <a:xfrm>
            <a:off x="6766560" y="2395728"/>
            <a:ext cx="3017520" cy="146304"/>
          </a:xfrm>
          <a:prstGeom prst="rect">
            <a:avLst/>
          </a:prstGeom>
          <a:noFill/>
          <a:ln/>
        </p:spPr>
        <p:txBody>
          <a:bodyPr wrap="square" lIns="0" tIns="0" rIns="0" bIns="0" rtlCol="0" anchor="ctr"/>
          <a:lstStyle/>
          <a:p>
            <a:pPr marL="0" indent="0" algn="ctr">
              <a:buNone/>
            </a:pPr>
            <a:r>
              <a:rPr lang="en-US" sz="1050" b="1" dirty="0">
                <a:solidFill>
                  <a:srgbClr val="0B5D3B"/>
                </a:solidFill>
                <a:latin typeface="Aptos" pitchFamily="34" charset="0"/>
                <a:ea typeface="Aptos" pitchFamily="34" charset="-122"/>
                <a:cs typeface="Aptos" pitchFamily="34" charset="-120"/>
              </a:rPr>
              <a:t>11,061 CGSS observations merged</a:t>
            </a:r>
            <a:endParaRPr lang="en-US" sz="1050" dirty="0"/>
          </a:p>
        </p:txBody>
      </p:sp>
      <p:sp>
        <p:nvSpPr>
          <p:cNvPr id="20" name="Shape 18"/>
          <p:cNvSpPr/>
          <p:nvPr/>
        </p:nvSpPr>
        <p:spPr>
          <a:xfrm>
            <a:off x="6675120" y="2880360"/>
            <a:ext cx="2743200" cy="310896"/>
          </a:xfrm>
          <a:prstGeom prst="roundRect">
            <a:avLst>
              <a:gd name="adj" fmla="val 23529"/>
            </a:avLst>
          </a:prstGeom>
          <a:solidFill>
            <a:srgbClr val="FFF4DF"/>
          </a:solidFill>
          <a:ln w="12700">
            <a:solidFill>
              <a:srgbClr val="FFF4DF"/>
            </a:solidFill>
            <a:prstDash val="solid"/>
          </a:ln>
        </p:spPr>
      </p:sp>
      <p:sp>
        <p:nvSpPr>
          <p:cNvPr id="21" name="Text 19"/>
          <p:cNvSpPr/>
          <p:nvPr/>
        </p:nvSpPr>
        <p:spPr>
          <a:xfrm>
            <a:off x="6766560" y="2944368"/>
            <a:ext cx="2560320" cy="146304"/>
          </a:xfrm>
          <a:prstGeom prst="rect">
            <a:avLst/>
          </a:prstGeom>
          <a:noFill/>
          <a:ln/>
        </p:spPr>
        <p:txBody>
          <a:bodyPr wrap="square" lIns="0" tIns="0" rIns="0" bIns="0" rtlCol="0" anchor="ctr"/>
          <a:lstStyle/>
          <a:p>
            <a:pPr marL="0" indent="0" algn="ctr">
              <a:buNone/>
            </a:pPr>
            <a:r>
              <a:rPr lang="en-US" sz="1050" b="1" dirty="0">
                <a:solidFill>
                  <a:srgbClr val="0B5D3B"/>
                </a:solidFill>
                <a:latin typeface="Aptos" pitchFamily="34" charset="0"/>
                <a:ea typeface="Aptos" pitchFamily="34" charset="-122"/>
                <a:cs typeface="Aptos" pitchFamily="34" charset="-120"/>
              </a:rPr>
              <a:t>SQS queue + EC2 workers</a:t>
            </a:r>
            <a:endParaRPr lang="en-US" sz="1050" dirty="0"/>
          </a:p>
        </p:txBody>
      </p:sp>
      <p:sp>
        <p:nvSpPr>
          <p:cNvPr id="22" name="Shape 20"/>
          <p:cNvSpPr/>
          <p:nvPr/>
        </p:nvSpPr>
        <p:spPr>
          <a:xfrm>
            <a:off x="6675120" y="3429000"/>
            <a:ext cx="2926080" cy="310896"/>
          </a:xfrm>
          <a:prstGeom prst="roundRect">
            <a:avLst>
              <a:gd name="adj" fmla="val 23529"/>
            </a:avLst>
          </a:prstGeom>
          <a:solidFill>
            <a:srgbClr val="F4E8FF"/>
          </a:solidFill>
          <a:ln w="12700">
            <a:solidFill>
              <a:srgbClr val="F4E8FF"/>
            </a:solidFill>
            <a:prstDash val="solid"/>
          </a:ln>
        </p:spPr>
      </p:sp>
      <p:sp>
        <p:nvSpPr>
          <p:cNvPr id="23" name="Text 21"/>
          <p:cNvSpPr/>
          <p:nvPr/>
        </p:nvSpPr>
        <p:spPr>
          <a:xfrm>
            <a:off x="6766560" y="3493008"/>
            <a:ext cx="2743200" cy="146304"/>
          </a:xfrm>
          <a:prstGeom prst="rect">
            <a:avLst/>
          </a:prstGeom>
          <a:noFill/>
          <a:ln/>
        </p:spPr>
        <p:txBody>
          <a:bodyPr wrap="square" lIns="0" tIns="0" rIns="0" bIns="0" rtlCol="0" anchor="ctr"/>
          <a:lstStyle/>
          <a:p>
            <a:pPr marL="0" indent="0" algn="ctr">
              <a:buNone/>
            </a:pPr>
            <a:r>
              <a:rPr lang="en-US" sz="1050" b="1" dirty="0">
                <a:solidFill>
                  <a:srgbClr val="0B5D3B"/>
                </a:solidFill>
                <a:latin typeface="Aptos" pitchFamily="34" charset="0"/>
                <a:ea typeface="Aptos" pitchFamily="34" charset="-122"/>
                <a:cs typeface="Aptos" pitchFamily="34" charset="-120"/>
              </a:rPr>
              <a:t>EMR Spark regression stage</a:t>
            </a:r>
            <a:endParaRPr lang="en-US" sz="1050" dirty="0"/>
          </a:p>
        </p:txBody>
      </p:sp>
      <p:sp>
        <p:nvSpPr>
          <p:cNvPr id="24" name="Text 22"/>
          <p:cNvSpPr/>
          <p:nvPr/>
        </p:nvSpPr>
        <p:spPr>
          <a:xfrm>
            <a:off x="6629400" y="4343400"/>
            <a:ext cx="4389120" cy="548640"/>
          </a:xfrm>
          <a:prstGeom prst="rect">
            <a:avLst/>
          </a:prstGeom>
          <a:noFill/>
          <a:ln/>
        </p:spPr>
        <p:txBody>
          <a:bodyPr wrap="square" lIns="254" tIns="254" rIns="254" bIns="254" rtlCol="0" anchor="ctr">
            <a:normAutofit fontScale="77500" lnSpcReduction="20000"/>
          </a:bodyPr>
          <a:lstStyle/>
          <a:p>
            <a:pPr marL="0" indent="0">
              <a:buNone/>
            </a:pPr>
            <a:r>
              <a:rPr lang="en-US" sz="2200" b="1" dirty="0">
                <a:solidFill>
                  <a:srgbClr val="0B5D3B"/>
                </a:solidFill>
              </a:rPr>
              <a:t>The pilot established correctness; the queue-worker design established scalability.</a:t>
            </a:r>
            <a:endParaRPr lang="en-US" sz="2200" dirty="0"/>
          </a:p>
        </p:txBody>
      </p:sp>
      <p:sp>
        <p:nvSpPr>
          <p:cNvPr id="25" name="Text 23"/>
          <p:cNvSpPr/>
          <p:nvPr/>
        </p:nvSpPr>
        <p:spPr>
          <a:xfrm>
            <a:off x="6629400" y="5166360"/>
            <a:ext cx="4343400" cy="384048"/>
          </a:xfrm>
          <a:prstGeom prst="rect">
            <a:avLst/>
          </a:prstGeom>
          <a:noFill/>
          <a:ln/>
        </p:spPr>
        <p:txBody>
          <a:bodyPr wrap="square" lIns="254" tIns="254" rIns="254" bIns="254" rtlCol="0" anchor="ctr"/>
          <a:lstStyle/>
          <a:p>
            <a:pPr marL="0" indent="0">
              <a:buNone/>
            </a:pPr>
            <a:r>
              <a:rPr lang="en-US" sz="1600" dirty="0">
                <a:solidFill>
                  <a:srgbClr val="5B6770"/>
                </a:solidFill>
              </a:rPr>
              <a:t>The same code path was used for test and full run, reducing one-off manual steps.</a:t>
            </a:r>
            <a:endParaRPr lang="en-US" sz="1600" dirty="0"/>
          </a:p>
        </p:txBody>
      </p:sp>
      <p:sp>
        <p:nvSpPr>
          <p:cNvPr id="26" name="Text 24"/>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REGRESSION ESTIMATES</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Main results: NDVI coefficients are noisy but intuitive</a:t>
            </a:r>
            <a:endParaRPr lang="en-US" sz="3000" dirty="0"/>
          </a:p>
        </p:txBody>
      </p:sp>
      <p:sp>
        <p:nvSpPr>
          <p:cNvPr id="5" name="Text 3"/>
          <p:cNvSpPr/>
          <p:nvPr/>
        </p:nvSpPr>
        <p:spPr>
          <a:xfrm>
            <a:off x="658368" y="1133856"/>
            <a:ext cx="10881360" cy="512064"/>
          </a:xfrm>
          <a:prstGeom prst="rect">
            <a:avLst/>
          </a:prstGeom>
          <a:noFill/>
          <a:ln/>
        </p:spPr>
        <p:txBody>
          <a:bodyPr wrap="square" lIns="254" tIns="254" rIns="254" bIns="254" rtlCol="0" anchor="ctr">
            <a:normAutofit fontScale="92500"/>
          </a:bodyPr>
          <a:lstStyle/>
          <a:p>
            <a:pPr marL="0" indent="0">
              <a:buNone/>
            </a:pPr>
            <a:r>
              <a:rPr lang="en-US" sz="1650" dirty="0">
                <a:solidFill>
                  <a:srgbClr val="5B6770"/>
                </a:solidFill>
              </a:rPr>
              <a:t>The 95% confidence intervals cross zero, so these are descriptive and imprecise estimates. But the signs match the expected pattern: greener provinces are associated with higher happiness in the fuller models and lower WTP for additional air-quality improvements.</a:t>
            </a:r>
            <a:endParaRPr lang="en-US" sz="1650" dirty="0"/>
          </a:p>
        </p:txBody>
      </p:sp>
      <p:sp>
        <p:nvSpPr>
          <p:cNvPr id="6" name="Shape 4"/>
          <p:cNvSpPr/>
          <p:nvPr/>
        </p:nvSpPr>
        <p:spPr>
          <a:xfrm>
            <a:off x="566928" y="1801368"/>
            <a:ext cx="5495544" cy="3392424"/>
          </a:xfrm>
          <a:prstGeom prst="roundRect">
            <a:avLst>
              <a:gd name="adj" fmla="val 1617"/>
            </a:avLst>
          </a:prstGeom>
          <a:solidFill>
            <a:srgbClr val="FFFFFF"/>
          </a:solidFill>
          <a:ln w="12700">
            <a:solidFill>
              <a:srgbClr val="C9D5CD">
                <a:alpha val="85000"/>
              </a:srgbClr>
            </a:solidFill>
            <a:prstDash val="solid"/>
          </a:ln>
        </p:spPr>
      </p:sp>
      <p:pic>
        <p:nvPicPr>
          <p:cNvPr id="7" name="Image 0" descr="/mnt/data/coef_mean_ndvi_happiness.png"/>
          <p:cNvPicPr>
            <a:picLocks noChangeAspect="1"/>
          </p:cNvPicPr>
          <p:nvPr/>
        </p:nvPicPr>
        <p:blipFill>
          <a:blip r:embed="rId3"/>
          <a:stretch>
            <a:fillRect/>
          </a:stretch>
        </p:blipFill>
        <p:spPr>
          <a:xfrm>
            <a:off x="612991" y="1828800"/>
            <a:ext cx="5403417" cy="3337560"/>
          </a:xfrm>
          <a:prstGeom prst="rect">
            <a:avLst/>
          </a:prstGeom>
        </p:spPr>
      </p:pic>
      <p:sp>
        <p:nvSpPr>
          <p:cNvPr id="8" name="Shape 5"/>
          <p:cNvSpPr/>
          <p:nvPr/>
        </p:nvSpPr>
        <p:spPr>
          <a:xfrm>
            <a:off x="6190488" y="1801368"/>
            <a:ext cx="5495544" cy="3392424"/>
          </a:xfrm>
          <a:prstGeom prst="roundRect">
            <a:avLst>
              <a:gd name="adj" fmla="val 1617"/>
            </a:avLst>
          </a:prstGeom>
          <a:solidFill>
            <a:srgbClr val="FFFFFF"/>
          </a:solidFill>
          <a:ln w="12700">
            <a:solidFill>
              <a:srgbClr val="C9D5CD">
                <a:alpha val="85000"/>
              </a:srgbClr>
            </a:solidFill>
            <a:prstDash val="solid"/>
          </a:ln>
        </p:spPr>
      </p:sp>
      <p:pic>
        <p:nvPicPr>
          <p:cNvPr id="9" name="Image 1" descr="/mnt/data/coef_mean_ndvi_ln_wtp_air3.png"/>
          <p:cNvPicPr>
            <a:picLocks noChangeAspect="1"/>
          </p:cNvPicPr>
          <p:nvPr/>
        </p:nvPicPr>
        <p:blipFill>
          <a:blip r:embed="rId4"/>
          <a:stretch>
            <a:fillRect/>
          </a:stretch>
        </p:blipFill>
        <p:spPr>
          <a:xfrm>
            <a:off x="6236551" y="1828800"/>
            <a:ext cx="5403417" cy="3337560"/>
          </a:xfrm>
          <a:prstGeom prst="rect">
            <a:avLst/>
          </a:prstGeom>
        </p:spPr>
      </p:pic>
      <p:sp>
        <p:nvSpPr>
          <p:cNvPr id="10" name="Text 6"/>
          <p:cNvSpPr/>
          <p:nvPr/>
        </p:nvSpPr>
        <p:spPr>
          <a:xfrm>
            <a:off x="731520" y="5394960"/>
            <a:ext cx="3840480" cy="274320"/>
          </a:xfrm>
          <a:prstGeom prst="rect">
            <a:avLst/>
          </a:prstGeom>
          <a:noFill/>
          <a:ln/>
        </p:spPr>
        <p:txBody>
          <a:bodyPr wrap="square" lIns="0" tIns="0" rIns="0" bIns="0" rtlCol="0" anchor="ctr"/>
          <a:lstStyle/>
          <a:p>
            <a:pPr marL="0" indent="0">
              <a:buNone/>
            </a:pPr>
            <a:r>
              <a:rPr lang="en-US" sz="1800" b="1" dirty="0">
                <a:solidFill>
                  <a:srgbClr val="0B5D3B"/>
                </a:solidFill>
              </a:rPr>
              <a:t>Happiness: positive after controls</a:t>
            </a:r>
            <a:endParaRPr lang="en-US" sz="1800" dirty="0"/>
          </a:p>
        </p:txBody>
      </p:sp>
      <p:sp>
        <p:nvSpPr>
          <p:cNvPr id="11" name="Text 7"/>
          <p:cNvSpPr/>
          <p:nvPr/>
        </p:nvSpPr>
        <p:spPr>
          <a:xfrm>
            <a:off x="6446520" y="5394960"/>
            <a:ext cx="3657600" cy="274320"/>
          </a:xfrm>
          <a:prstGeom prst="rect">
            <a:avLst/>
          </a:prstGeom>
          <a:noFill/>
          <a:ln/>
        </p:spPr>
        <p:txBody>
          <a:bodyPr wrap="square" lIns="0" tIns="0" rIns="0" bIns="0" rtlCol="0" anchor="ctr"/>
          <a:lstStyle/>
          <a:p>
            <a:pPr marL="0" indent="0">
              <a:buNone/>
            </a:pPr>
            <a:r>
              <a:rPr lang="en-US" sz="1800" b="1" dirty="0">
                <a:solidFill>
                  <a:srgbClr val="0B5D3B"/>
                </a:solidFill>
              </a:rPr>
              <a:t>WTP: negative or near zero</a:t>
            </a:r>
            <a:endParaRPr lang="en-US" sz="1800" dirty="0"/>
          </a:p>
        </p:txBody>
      </p:sp>
      <p:sp>
        <p:nvSpPr>
          <p:cNvPr id="12" name="Text 8"/>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VISUAL DIAGNOSTICS</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Province-level patterns behind the estimates</a:t>
            </a:r>
            <a:endParaRPr lang="en-US" sz="3000" dirty="0"/>
          </a:p>
        </p:txBody>
      </p:sp>
      <p:sp>
        <p:nvSpPr>
          <p:cNvPr id="5" name="Shape 3"/>
          <p:cNvSpPr/>
          <p:nvPr/>
        </p:nvSpPr>
        <p:spPr>
          <a:xfrm>
            <a:off x="475488" y="1207008"/>
            <a:ext cx="5632704" cy="4215384"/>
          </a:xfrm>
          <a:prstGeom prst="roundRect">
            <a:avLst>
              <a:gd name="adj" fmla="val 1302"/>
            </a:avLst>
          </a:prstGeom>
          <a:solidFill>
            <a:srgbClr val="FFFFFF"/>
          </a:solidFill>
          <a:ln w="12700">
            <a:solidFill>
              <a:srgbClr val="C9D5CD">
                <a:alpha val="85000"/>
              </a:srgbClr>
            </a:solidFill>
            <a:prstDash val="solid"/>
          </a:ln>
        </p:spPr>
      </p:sp>
      <p:pic>
        <p:nvPicPr>
          <p:cNvPr id="6" name="Image 0" descr="/mnt/data/province_scatter_ndvi_happiness.png"/>
          <p:cNvPicPr>
            <a:picLocks noChangeAspect="1"/>
          </p:cNvPicPr>
          <p:nvPr/>
        </p:nvPicPr>
        <p:blipFill>
          <a:blip r:embed="rId3"/>
          <a:stretch>
            <a:fillRect/>
          </a:stretch>
        </p:blipFill>
        <p:spPr>
          <a:xfrm>
            <a:off x="502920" y="1337399"/>
            <a:ext cx="5577840" cy="3954601"/>
          </a:xfrm>
          <a:prstGeom prst="rect">
            <a:avLst/>
          </a:prstGeom>
        </p:spPr>
      </p:pic>
      <p:sp>
        <p:nvSpPr>
          <p:cNvPr id="7" name="Shape 4"/>
          <p:cNvSpPr/>
          <p:nvPr/>
        </p:nvSpPr>
        <p:spPr>
          <a:xfrm>
            <a:off x="6172200" y="1207008"/>
            <a:ext cx="5632704" cy="4215384"/>
          </a:xfrm>
          <a:prstGeom prst="roundRect">
            <a:avLst>
              <a:gd name="adj" fmla="val 1302"/>
            </a:avLst>
          </a:prstGeom>
          <a:solidFill>
            <a:srgbClr val="FFFFFF"/>
          </a:solidFill>
          <a:ln w="12700">
            <a:solidFill>
              <a:srgbClr val="C9D5CD">
                <a:alpha val="85000"/>
              </a:srgbClr>
            </a:solidFill>
            <a:prstDash val="solid"/>
          </a:ln>
        </p:spPr>
      </p:sp>
      <p:pic>
        <p:nvPicPr>
          <p:cNvPr id="8" name="Image 1" descr="/mnt/data/province_scatter_ndvi_ln_wtp_air3.png"/>
          <p:cNvPicPr>
            <a:picLocks noChangeAspect="1"/>
          </p:cNvPicPr>
          <p:nvPr/>
        </p:nvPicPr>
        <p:blipFill>
          <a:blip r:embed="rId4"/>
          <a:stretch>
            <a:fillRect/>
          </a:stretch>
        </p:blipFill>
        <p:spPr>
          <a:xfrm>
            <a:off x="6199632" y="1337399"/>
            <a:ext cx="5577840" cy="3954601"/>
          </a:xfrm>
          <a:prstGeom prst="rect">
            <a:avLst/>
          </a:prstGeom>
        </p:spPr>
      </p:pic>
      <p:sp>
        <p:nvSpPr>
          <p:cNvPr id="9" name="Text 5"/>
          <p:cNvSpPr/>
          <p:nvPr/>
        </p:nvSpPr>
        <p:spPr>
          <a:xfrm>
            <a:off x="685800" y="5742432"/>
            <a:ext cx="10789920" cy="347472"/>
          </a:xfrm>
          <a:prstGeom prst="rect">
            <a:avLst/>
          </a:prstGeom>
          <a:noFill/>
          <a:ln/>
        </p:spPr>
        <p:txBody>
          <a:bodyPr wrap="square" lIns="0" tIns="0" rIns="0" bIns="0" rtlCol="0" anchor="ctr"/>
          <a:lstStyle/>
          <a:p>
            <a:pPr marL="0" indent="0">
              <a:buNone/>
            </a:pPr>
            <a:r>
              <a:rPr lang="en-US" sz="1700" dirty="0">
                <a:solidFill>
                  <a:srgbClr val="5B6770"/>
                </a:solidFill>
              </a:rPr>
              <a:t>The province-level relationship is suggestive but sensitive to influential provinces. This reinforces the need for finer spatial exposure in future work.</a:t>
            </a:r>
            <a:endParaRPr lang="en-US" sz="1700" dirty="0"/>
          </a:p>
        </p:txBody>
      </p:sp>
      <p:sp>
        <p:nvSpPr>
          <p:cNvPr id="10" name="Text 6"/>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B5D3B"/>
          </a:solidFill>
          <a:ln w="12700">
            <a:solidFill>
              <a:srgbClr val="0B5D3B"/>
            </a:solidFill>
            <a:prstDash val="solid"/>
          </a:ln>
        </p:spPr>
      </p:sp>
      <p:sp>
        <p:nvSpPr>
          <p:cNvPr id="3" name="Text 1"/>
          <p:cNvSpPr/>
          <p:nvPr/>
        </p:nvSpPr>
        <p:spPr>
          <a:xfrm>
            <a:off x="502920" y="201168"/>
            <a:ext cx="3840480" cy="228600"/>
          </a:xfrm>
          <a:prstGeom prst="rect">
            <a:avLst/>
          </a:prstGeom>
          <a:noFill/>
          <a:ln/>
        </p:spPr>
        <p:txBody>
          <a:bodyPr wrap="square" rtlCol="0" anchor="ctr"/>
          <a:lstStyle/>
          <a:p>
            <a:pPr marL="0" indent="0">
              <a:buNone/>
            </a:pPr>
            <a:r>
              <a:rPr lang="en-US" sz="900" b="1" dirty="0">
                <a:solidFill>
                  <a:srgbClr val="0B5D3B"/>
                </a:solidFill>
                <a:latin typeface="Aptos" pitchFamily="34" charset="0"/>
                <a:ea typeface="Aptos" pitchFamily="34" charset="-122"/>
                <a:cs typeface="Aptos" pitchFamily="34" charset="-120"/>
              </a:rPr>
              <a:t>CONCLUSION</a:t>
            </a:r>
            <a:endParaRPr lang="en-US" sz="900" dirty="0"/>
          </a:p>
        </p:txBody>
      </p:sp>
      <p:sp>
        <p:nvSpPr>
          <p:cNvPr id="4" name="Text 2"/>
          <p:cNvSpPr/>
          <p:nvPr/>
        </p:nvSpPr>
        <p:spPr>
          <a:xfrm>
            <a:off x="502920" y="438912"/>
            <a:ext cx="10972800" cy="502920"/>
          </a:xfrm>
          <a:prstGeom prst="rect">
            <a:avLst/>
          </a:prstGeom>
          <a:noFill/>
          <a:ln/>
        </p:spPr>
        <p:txBody>
          <a:bodyPr wrap="square" lIns="0" tIns="0" rIns="0" bIns="0" rtlCol="0" anchor="ctr"/>
          <a:lstStyle/>
          <a:p>
            <a:pPr marL="0" indent="0">
              <a:buNone/>
            </a:pPr>
            <a:r>
              <a:rPr lang="en-US" sz="3000" b="1" dirty="0">
                <a:solidFill>
                  <a:srgbClr val="0F2F25"/>
                </a:solidFill>
                <a:latin typeface="Aptos Display" pitchFamily="34" charset="0"/>
                <a:ea typeface="Aptos Display" pitchFamily="34" charset="-122"/>
                <a:cs typeface="Aptos Display" pitchFamily="34" charset="-120"/>
              </a:rPr>
              <a:t>Takeaways: the pipeline works; the estimates motivate finer data</a:t>
            </a:r>
            <a:endParaRPr lang="en-US" sz="3000" dirty="0"/>
          </a:p>
        </p:txBody>
      </p:sp>
      <p:sp>
        <p:nvSpPr>
          <p:cNvPr id="5" name="Shape 3"/>
          <p:cNvSpPr/>
          <p:nvPr/>
        </p:nvSpPr>
        <p:spPr>
          <a:xfrm>
            <a:off x="475488" y="1179576"/>
            <a:ext cx="5541264" cy="3392424"/>
          </a:xfrm>
          <a:prstGeom prst="roundRect">
            <a:avLst>
              <a:gd name="adj" fmla="val 1617"/>
            </a:avLst>
          </a:prstGeom>
          <a:solidFill>
            <a:srgbClr val="FFFFFF"/>
          </a:solidFill>
          <a:ln w="12700">
            <a:solidFill>
              <a:srgbClr val="C9D5CD">
                <a:alpha val="85000"/>
              </a:srgbClr>
            </a:solidFill>
            <a:prstDash val="solid"/>
          </a:ln>
        </p:spPr>
      </p:sp>
      <p:pic>
        <p:nvPicPr>
          <p:cNvPr id="6" name="Image 0" descr="/mnt/data/full_controls_coefficients_happiness.png"/>
          <p:cNvPicPr>
            <a:picLocks noChangeAspect="1"/>
          </p:cNvPicPr>
          <p:nvPr/>
        </p:nvPicPr>
        <p:blipFill>
          <a:blip r:embed="rId3"/>
          <a:stretch>
            <a:fillRect/>
          </a:stretch>
        </p:blipFill>
        <p:spPr>
          <a:xfrm>
            <a:off x="651085" y="1207008"/>
            <a:ext cx="5190071" cy="3337560"/>
          </a:xfrm>
          <a:prstGeom prst="rect">
            <a:avLst/>
          </a:prstGeom>
        </p:spPr>
      </p:pic>
      <p:sp>
        <p:nvSpPr>
          <p:cNvPr id="7" name="Shape 4"/>
          <p:cNvSpPr/>
          <p:nvPr/>
        </p:nvSpPr>
        <p:spPr>
          <a:xfrm>
            <a:off x="6236208" y="1179576"/>
            <a:ext cx="5541264" cy="3392424"/>
          </a:xfrm>
          <a:prstGeom prst="roundRect">
            <a:avLst>
              <a:gd name="adj" fmla="val 1617"/>
            </a:avLst>
          </a:prstGeom>
          <a:solidFill>
            <a:srgbClr val="FFFFFF"/>
          </a:solidFill>
          <a:ln w="12700">
            <a:solidFill>
              <a:srgbClr val="C9D5CD">
                <a:alpha val="85000"/>
              </a:srgbClr>
            </a:solidFill>
            <a:prstDash val="solid"/>
          </a:ln>
        </p:spPr>
      </p:sp>
      <p:pic>
        <p:nvPicPr>
          <p:cNvPr id="8" name="Image 1" descr="/mnt/data/full_controls_coefficients_ln_wtp_air3.png"/>
          <p:cNvPicPr>
            <a:picLocks noChangeAspect="1"/>
          </p:cNvPicPr>
          <p:nvPr/>
        </p:nvPicPr>
        <p:blipFill>
          <a:blip r:embed="rId4"/>
          <a:stretch>
            <a:fillRect/>
          </a:stretch>
        </p:blipFill>
        <p:spPr>
          <a:xfrm>
            <a:off x="6411805" y="1207008"/>
            <a:ext cx="5190071" cy="3337560"/>
          </a:xfrm>
          <a:prstGeom prst="rect">
            <a:avLst/>
          </a:prstGeom>
        </p:spPr>
      </p:pic>
      <p:sp>
        <p:nvSpPr>
          <p:cNvPr id="9" name="Text 5"/>
          <p:cNvSpPr/>
          <p:nvPr/>
        </p:nvSpPr>
        <p:spPr>
          <a:xfrm>
            <a:off x="658368" y="4983480"/>
            <a:ext cx="2377440" cy="228600"/>
          </a:xfrm>
          <a:prstGeom prst="rect">
            <a:avLst/>
          </a:prstGeom>
          <a:noFill/>
          <a:ln/>
        </p:spPr>
        <p:txBody>
          <a:bodyPr wrap="square" lIns="0" tIns="0" rIns="0" bIns="0" rtlCol="0" anchor="ctr"/>
          <a:lstStyle/>
          <a:p>
            <a:pPr marL="0" indent="0">
              <a:buNone/>
            </a:pPr>
            <a:r>
              <a:rPr lang="en-US" sz="1600" b="1" dirty="0">
                <a:solidFill>
                  <a:srgbClr val="0B5D3B"/>
                </a:solidFill>
              </a:rPr>
              <a:t>Substantive finding</a:t>
            </a:r>
            <a:endParaRPr lang="en-US" sz="1600" dirty="0"/>
          </a:p>
        </p:txBody>
      </p:sp>
      <p:sp>
        <p:nvSpPr>
          <p:cNvPr id="10" name="Text 6"/>
          <p:cNvSpPr/>
          <p:nvPr/>
        </p:nvSpPr>
        <p:spPr>
          <a:xfrm>
            <a:off x="658368" y="5349240"/>
            <a:ext cx="5212080" cy="457200"/>
          </a:xfrm>
          <a:prstGeom prst="rect">
            <a:avLst/>
          </a:prstGeom>
          <a:noFill/>
          <a:ln/>
        </p:spPr>
        <p:txBody>
          <a:bodyPr wrap="square" lIns="254" tIns="254" rIns="254" bIns="254" rtlCol="0" anchor="ctr">
            <a:normAutofit fontScale="92500" lnSpcReduction="10000"/>
          </a:bodyPr>
          <a:lstStyle/>
          <a:p>
            <a:pPr marL="0" indent="0">
              <a:buNone/>
            </a:pPr>
            <a:r>
              <a:rPr lang="en-US" sz="1600" dirty="0">
                <a:solidFill>
                  <a:srgbClr val="0F2F25"/>
                </a:solidFill>
              </a:rPr>
              <a:t>Individual characteristics such as health, marriage, income, age, and hukou explain more variation than province-level NDVI.</a:t>
            </a:r>
            <a:endParaRPr lang="en-US" sz="1600" dirty="0"/>
          </a:p>
        </p:txBody>
      </p:sp>
      <p:sp>
        <p:nvSpPr>
          <p:cNvPr id="11" name="Text 7"/>
          <p:cNvSpPr/>
          <p:nvPr/>
        </p:nvSpPr>
        <p:spPr>
          <a:xfrm>
            <a:off x="6355080" y="4983480"/>
            <a:ext cx="2560320" cy="228600"/>
          </a:xfrm>
          <a:prstGeom prst="rect">
            <a:avLst/>
          </a:prstGeom>
          <a:noFill/>
          <a:ln/>
        </p:spPr>
        <p:txBody>
          <a:bodyPr wrap="square" lIns="0" tIns="0" rIns="0" bIns="0" rtlCol="0" anchor="ctr"/>
          <a:lstStyle/>
          <a:p>
            <a:pPr marL="0" indent="0">
              <a:buNone/>
            </a:pPr>
            <a:r>
              <a:rPr lang="en-US" sz="1600" b="1" dirty="0">
                <a:solidFill>
                  <a:srgbClr val="0B5D3B"/>
                </a:solidFill>
              </a:rPr>
              <a:t>Computing contribution</a:t>
            </a:r>
            <a:endParaRPr lang="en-US" sz="1600" dirty="0"/>
          </a:p>
        </p:txBody>
      </p:sp>
      <p:sp>
        <p:nvSpPr>
          <p:cNvPr id="12" name="Text 8"/>
          <p:cNvSpPr/>
          <p:nvPr/>
        </p:nvSpPr>
        <p:spPr>
          <a:xfrm>
            <a:off x="6355080" y="5349240"/>
            <a:ext cx="5212080" cy="457200"/>
          </a:xfrm>
          <a:prstGeom prst="rect">
            <a:avLst/>
          </a:prstGeom>
          <a:noFill/>
          <a:ln/>
        </p:spPr>
        <p:txBody>
          <a:bodyPr wrap="square" lIns="254" tIns="254" rIns="254" bIns="254" rtlCol="0" anchor="ctr">
            <a:normAutofit lnSpcReduction="10000"/>
          </a:bodyPr>
          <a:lstStyle/>
          <a:p>
            <a:pPr marL="0" indent="0">
              <a:buNone/>
            </a:pPr>
            <a:r>
              <a:rPr lang="en-US" sz="1600" dirty="0">
                <a:solidFill>
                  <a:srgbClr val="0F2F25"/>
                </a:solidFill>
              </a:rPr>
              <a:t>S3 + SQS + EC2 + EMR provides a reusable scalable template for linking satellite rasters to survey microdata.</a:t>
            </a:r>
            <a:endParaRPr lang="en-US" sz="1600" dirty="0"/>
          </a:p>
        </p:txBody>
      </p:sp>
      <p:sp>
        <p:nvSpPr>
          <p:cNvPr id="13" name="Text 9"/>
          <p:cNvSpPr/>
          <p:nvPr/>
        </p:nvSpPr>
        <p:spPr>
          <a:xfrm>
            <a:off x="685800" y="6199632"/>
            <a:ext cx="10789920" cy="228600"/>
          </a:xfrm>
          <a:prstGeom prst="rect">
            <a:avLst/>
          </a:prstGeom>
          <a:noFill/>
          <a:ln/>
        </p:spPr>
        <p:txBody>
          <a:bodyPr wrap="square" lIns="0" tIns="0" rIns="0" bIns="0" rtlCol="0" anchor="ctr"/>
          <a:lstStyle/>
          <a:p>
            <a:pPr marL="0" indent="0">
              <a:buNone/>
            </a:pPr>
            <a:r>
              <a:rPr lang="en-US" sz="1420" i="1" dirty="0">
                <a:solidFill>
                  <a:srgbClr val="5B6770"/>
                </a:solidFill>
              </a:rPr>
              <a:t>Next steps: city/county-level NDVI, air-pollution controls, and heterogeneous effects by urban status or income.</a:t>
            </a:r>
            <a:endParaRPr lang="en-US" sz="1420" dirty="0"/>
          </a:p>
        </p:txBody>
      </p:sp>
      <p:sp>
        <p:nvSpPr>
          <p:cNvPr id="14" name="Text 10"/>
          <p:cNvSpPr/>
          <p:nvPr/>
        </p:nvSpPr>
        <p:spPr>
          <a:xfrm>
            <a:off x="9601200" y="6510528"/>
            <a:ext cx="2103120" cy="164592"/>
          </a:xfrm>
          <a:prstGeom prst="rect">
            <a:avLst/>
          </a:prstGeom>
          <a:noFill/>
          <a:ln/>
        </p:spPr>
        <p:txBody>
          <a:bodyPr wrap="square" lIns="0" tIns="0" rIns="0" bIns="0" rtlCol="0" anchor="ctr"/>
          <a:lstStyle/>
          <a:p>
            <a:pPr marL="0" indent="0" algn="r">
              <a:buNone/>
            </a:pPr>
            <a:r>
              <a:rPr lang="en-US" sz="800" dirty="0">
                <a:solidFill>
                  <a:srgbClr val="7A8880"/>
                </a:solidFill>
                <a:latin typeface="Aptos" pitchFamily="34" charset="0"/>
                <a:ea typeface="Aptos" pitchFamily="34" charset="-122"/>
                <a:cs typeface="Aptos" pitchFamily="34" charset="-120"/>
              </a:rPr>
              <a:t>Final project presentation  ·  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1388</Words>
  <Application>Microsoft Office PowerPoint</Application>
  <PresentationFormat>宽屏</PresentationFormat>
  <Paragraphs>99</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UChicago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Greenness, Infrastructure, and Happiness in China</dc:title>
  <dc:subject>Final project presentation</dc:subject>
  <dc:creator>Ray Sam</dc:creator>
  <cp:lastModifiedBy>庭睿 张</cp:lastModifiedBy>
  <cp:revision>2</cp:revision>
  <dcterms:created xsi:type="dcterms:W3CDTF">2026-05-26T19:43:16Z</dcterms:created>
  <dcterms:modified xsi:type="dcterms:W3CDTF">2026-05-29T16:57:19Z</dcterms:modified>
</cp:coreProperties>
</file>